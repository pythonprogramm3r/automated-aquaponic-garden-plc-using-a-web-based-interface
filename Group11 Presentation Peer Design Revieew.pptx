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65" r:id="rId2"/>
    <p:sldId id="341" r:id="rId3"/>
    <p:sldId id="310" r:id="rId4"/>
    <p:sldId id="311" r:id="rId5"/>
    <p:sldId id="313" r:id="rId6"/>
    <p:sldId id="312" r:id="rId7"/>
    <p:sldId id="314" r:id="rId8"/>
    <p:sldId id="315" r:id="rId9"/>
    <p:sldId id="317" r:id="rId10"/>
    <p:sldId id="316" r:id="rId11"/>
    <p:sldId id="318" r:id="rId12"/>
    <p:sldId id="319" r:id="rId13"/>
    <p:sldId id="320" r:id="rId14"/>
    <p:sldId id="331" r:id="rId15"/>
    <p:sldId id="321" r:id="rId16"/>
    <p:sldId id="322" r:id="rId17"/>
    <p:sldId id="332" r:id="rId18"/>
    <p:sldId id="323" r:id="rId19"/>
    <p:sldId id="324" r:id="rId20"/>
    <p:sldId id="325" r:id="rId21"/>
    <p:sldId id="336" r:id="rId22"/>
    <p:sldId id="327" r:id="rId23"/>
    <p:sldId id="329" r:id="rId24"/>
    <p:sldId id="338" r:id="rId25"/>
    <p:sldId id="339" r:id="rId26"/>
    <p:sldId id="333" r:id="rId27"/>
    <p:sldId id="334" r:id="rId28"/>
    <p:sldId id="335" r:id="rId29"/>
    <p:sldId id="330" r:id="rId30"/>
    <p:sldId id="340" r:id="rId31"/>
  </p:sldIdLst>
  <p:sldSz cx="12188825"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81" dt="2021-04-29T13:14:33.392"/>
    <p1510:client id="{54A7F14B-E437-4310-BD48-2EDAD488A85D}" v="297" dt="2021-04-29T15:25:55.189"/>
    <p1510:client id="{57238EED-A588-4FBB-8CFC-330F4EFC0081}" v="7359" dt="2021-04-29T14:46:26.847"/>
    <p1510:client id="{9A86FF61-EAAA-BC0F-3197-A82659A35A6B}" v="3227" dt="2021-04-29T00:37:08.614"/>
    <p1510:client id="{DFE37B5B-5AC7-8FF1-B989-D0F9F6657E57}" v="1329" dt="2021-04-29T13:08:36.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39"/>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4/29/2021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4/29/2021</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4/29/2021</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4/29/2021</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4/29/2021</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03F41C87-7AD9-4845-A077-840E4A0F3F06}" type="datetimeFigureOut">
              <a:rPr lang="en-US"/>
              <a:t>4/29/2021</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4/29/2021</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4/29/2021</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4/29/2021</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pPr/>
              <a:t>4/29/2021</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4/29/2021</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4/29/2021</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4/29/2021</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bbc.com/future/bespoke/follow-the-food/why-our-food-needs-to-use-less-water/?utm_source=pocket-newtab" TargetMode="External"/><Relationship Id="rId2" Type="http://schemas.openxmlformats.org/officeDocument/2006/relationships/hyperlink" Target="https://www.instructables.com/Simple-and-intuitive-web-interface-for-your-Raspbe/" TargetMode="External"/><Relationship Id="rId1" Type="http://schemas.openxmlformats.org/officeDocument/2006/relationships/slideLayout" Target="../slideLayouts/slideLayout2.xml"/><Relationship Id="rId6" Type="http://schemas.openxmlformats.org/officeDocument/2006/relationships/hyperlink" Target="https://images-na.ssl-images-amazon.com/images/I/81StZVxm8JL._AC_SL1500_.jpg" TargetMode="External"/><Relationship Id="rId5" Type="http://schemas.openxmlformats.org/officeDocument/2006/relationships/hyperlink" Target="http://www.fao.org/in-action/globefish/market-reports/resource-detail/en/c/1263851/" TargetMode="External"/><Relationship Id="rId4" Type="http://schemas.openxmlformats.org/officeDocument/2006/relationships/hyperlink" Target="https://www.health.harvard.edu/blog/backyard-gardening-grow-your-own-food-improve-your-health-201206294984"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mailto:gentry.24@wright.edu" TargetMode="External"/><Relationship Id="rId2" Type="http://schemas.openxmlformats.org/officeDocument/2006/relationships/hyperlink" Target="mailto:Frueauf.6@wright.edu" TargetMode="External"/><Relationship Id="rId1" Type="http://schemas.openxmlformats.org/officeDocument/2006/relationships/slideLayout" Target="../slideLayouts/slideLayout4.xml"/><Relationship Id="rId4" Type="http://schemas.openxmlformats.org/officeDocument/2006/relationships/hyperlink" Target="mailto:kaliney.2@wright.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fontScale="90000"/>
          </a:bodyPr>
          <a:lstStyle/>
          <a:p>
            <a:r>
              <a:rPr lang="en-US"/>
              <a:t>Automated Aquaponic Garden PLC Using a Web-based Interface</a:t>
            </a:r>
          </a:p>
        </p:txBody>
      </p:sp>
      <p:sp>
        <p:nvSpPr>
          <p:cNvPr id="4" name="Subtitle 3"/>
          <p:cNvSpPr>
            <a:spLocks noGrp="1"/>
          </p:cNvSpPr>
          <p:nvPr>
            <p:ph type="subTitle" idx="1"/>
          </p:nvPr>
        </p:nvSpPr>
        <p:spPr/>
        <p:txBody>
          <a:bodyPr>
            <a:normAutofit fontScale="85000" lnSpcReduction="20000"/>
          </a:bodyPr>
          <a:lstStyle/>
          <a:p>
            <a:r>
              <a:rPr lang="it-IT"/>
              <a:t>Ee-4910</a:t>
            </a:r>
          </a:p>
          <a:p>
            <a:r>
              <a:rPr lang="it-IT"/>
              <a:t>Group 11</a:t>
            </a:r>
          </a:p>
          <a:p>
            <a:pPr algn="r"/>
            <a:r>
              <a:rPr lang="it-IT"/>
              <a:t>Chalmer Frueauf</a:t>
            </a:r>
          </a:p>
          <a:p>
            <a:pPr algn="r"/>
            <a:r>
              <a:rPr lang="it-IT"/>
              <a:t>Alex Gentry</a:t>
            </a:r>
          </a:p>
          <a:p>
            <a:pPr algn="r"/>
            <a:r>
              <a:rPr lang="it-IT"/>
              <a:t>Derrick Kaliney</a:t>
            </a:r>
          </a:p>
          <a:p>
            <a:pPr algn="r"/>
            <a:r>
              <a:rPr lang="it-IT"/>
              <a:t>Charles Witherspoon</a:t>
            </a: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C687D-4F33-4108-9AB4-267FEA1C5C41}"/>
              </a:ext>
            </a:extLst>
          </p:cNvPr>
          <p:cNvSpPr>
            <a:spLocks noGrp="1"/>
          </p:cNvSpPr>
          <p:nvPr>
            <p:ph type="title"/>
          </p:nvPr>
        </p:nvSpPr>
        <p:spPr/>
        <p:txBody>
          <a:bodyPr/>
          <a:lstStyle/>
          <a:p>
            <a:r>
              <a:rPr lang="en-US"/>
              <a:t>Overview</a:t>
            </a:r>
          </a:p>
        </p:txBody>
      </p:sp>
      <p:sp>
        <p:nvSpPr>
          <p:cNvPr id="3" name="Content Placeholder 2">
            <a:extLst>
              <a:ext uri="{FF2B5EF4-FFF2-40B4-BE49-F238E27FC236}">
                <a16:creationId xmlns:a16="http://schemas.microsoft.com/office/drawing/2014/main" id="{AAAB890B-9982-4B16-8EA1-7AF058947FB6}"/>
              </a:ext>
            </a:extLst>
          </p:cNvPr>
          <p:cNvSpPr>
            <a:spLocks noGrp="1"/>
          </p:cNvSpPr>
          <p:nvPr>
            <p:ph sz="half" idx="1"/>
          </p:nvPr>
        </p:nvSpPr>
        <p:spPr/>
        <p:txBody>
          <a:bodyPr>
            <a:normAutofit fontScale="92500" lnSpcReduction="10000"/>
          </a:bodyPr>
          <a:lstStyle/>
          <a:p>
            <a:r>
              <a:rPr lang="en-US"/>
              <a:t>Device Purpose</a:t>
            </a:r>
          </a:p>
          <a:p>
            <a:r>
              <a:rPr lang="en-US"/>
              <a:t>Design Scope</a:t>
            </a:r>
          </a:p>
          <a:p>
            <a:r>
              <a:rPr lang="en-US"/>
              <a:t>Market Analysis</a:t>
            </a:r>
          </a:p>
          <a:p>
            <a:r>
              <a:rPr lang="en-US"/>
              <a:t>Design Objectives and Assumptions</a:t>
            </a:r>
          </a:p>
          <a:p>
            <a:r>
              <a:rPr lang="en-US"/>
              <a:t>Design Requirements, Constraints, and Standards</a:t>
            </a:r>
          </a:p>
          <a:p>
            <a:r>
              <a:rPr lang="en-US"/>
              <a:t>Design Functionality</a:t>
            </a:r>
          </a:p>
          <a:p>
            <a:r>
              <a:rPr lang="en-US"/>
              <a:t>Design Impact</a:t>
            </a:r>
          </a:p>
          <a:p>
            <a:endParaRPr lang="en-US"/>
          </a:p>
          <a:p>
            <a:endParaRPr lang="en-US"/>
          </a:p>
          <a:p>
            <a:endParaRPr lang="en-US"/>
          </a:p>
          <a:p>
            <a:endParaRPr lang="en-US"/>
          </a:p>
        </p:txBody>
      </p:sp>
      <p:sp>
        <p:nvSpPr>
          <p:cNvPr id="4" name="Content Placeholder 3">
            <a:extLst>
              <a:ext uri="{FF2B5EF4-FFF2-40B4-BE49-F238E27FC236}">
                <a16:creationId xmlns:a16="http://schemas.microsoft.com/office/drawing/2014/main" id="{45C62E8A-838F-4179-A88B-672BAF9F597F}"/>
              </a:ext>
            </a:extLst>
          </p:cNvPr>
          <p:cNvSpPr>
            <a:spLocks noGrp="1"/>
          </p:cNvSpPr>
          <p:nvPr>
            <p:ph sz="half" idx="2"/>
          </p:nvPr>
        </p:nvSpPr>
        <p:spPr/>
        <p:txBody>
          <a:bodyPr>
            <a:normAutofit fontScale="92500" lnSpcReduction="10000"/>
          </a:bodyPr>
          <a:lstStyle/>
          <a:p>
            <a:r>
              <a:rPr lang="en-US"/>
              <a:t>Documentation</a:t>
            </a:r>
          </a:p>
          <a:p>
            <a:r>
              <a:rPr lang="en-US"/>
              <a:t>Technical Approach</a:t>
            </a:r>
          </a:p>
          <a:p>
            <a:r>
              <a:rPr lang="en-US"/>
              <a:t>Hardware and Software</a:t>
            </a:r>
          </a:p>
          <a:p>
            <a:r>
              <a:rPr lang="en-US"/>
              <a:t>Tests and Evaluation</a:t>
            </a:r>
          </a:p>
          <a:p>
            <a:r>
              <a:rPr lang="en-US"/>
              <a:t>Critical Milestones and Time Schedule</a:t>
            </a:r>
          </a:p>
          <a:p>
            <a:r>
              <a:rPr lang="en-US"/>
              <a:t>Risks and Mitigation</a:t>
            </a:r>
          </a:p>
          <a:p>
            <a:r>
              <a:rPr lang="en-US"/>
              <a:t>References</a:t>
            </a:r>
          </a:p>
          <a:p>
            <a:r>
              <a:rPr lang="en-US"/>
              <a:t>Contact Information</a:t>
            </a:r>
          </a:p>
          <a:p>
            <a:pPr marL="0" indent="0">
              <a:buNone/>
            </a:pPr>
            <a:endParaRPr lang="en-US"/>
          </a:p>
        </p:txBody>
      </p:sp>
    </p:spTree>
    <p:extLst>
      <p:ext uri="{BB962C8B-B14F-4D97-AF65-F5344CB8AC3E}">
        <p14:creationId xmlns:p14="http://schemas.microsoft.com/office/powerpoint/2010/main" val="286149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Device Purpose</a:t>
            </a:r>
          </a:p>
        </p:txBody>
      </p:sp>
      <p:sp>
        <p:nvSpPr>
          <p:cNvPr id="14" name="Content Placeholder 13"/>
          <p:cNvSpPr>
            <a:spLocks noGrp="1"/>
          </p:cNvSpPr>
          <p:nvPr>
            <p:ph idx="1"/>
          </p:nvPr>
        </p:nvSpPr>
        <p:spPr/>
        <p:txBody>
          <a:bodyPr vert="horz" lIns="91440" tIns="45720" rIns="91440" bIns="45720" rtlCol="0" anchor="t">
            <a:normAutofit/>
          </a:bodyPr>
          <a:lstStyle/>
          <a:p>
            <a:pPr marL="223520" indent="-223520"/>
            <a:r>
              <a:rPr lang="en-US"/>
              <a:t>Increase accessibility of small-scale aquaponic  systems</a:t>
            </a:r>
          </a:p>
          <a:p>
            <a:pPr marL="223520" indent="-223520"/>
            <a:r>
              <a:rPr lang="en-US"/>
              <a:t>Provide a tool for home gardeners to automate their aquaponic yields</a:t>
            </a:r>
          </a:p>
          <a:p>
            <a:pPr marL="223520" indent="-223520"/>
            <a:r>
              <a:rPr lang="en-US"/>
              <a:t>Create a schedulable system of powered appliances</a:t>
            </a:r>
          </a:p>
          <a:p>
            <a:pPr marL="223520" indent="-223520"/>
            <a:r>
              <a:rPr lang="en-US"/>
              <a:t>Allow remote access and monitoring of  aquaponic operation</a:t>
            </a:r>
          </a:p>
          <a:p>
            <a:pPr marL="223520" indent="-223520"/>
            <a:r>
              <a:rPr lang="en-US"/>
              <a:t>Improve efficiency of agricultural water consumption</a:t>
            </a:r>
          </a:p>
          <a:p>
            <a:pPr marL="223520" indent="-223520"/>
            <a:r>
              <a:rPr lang="en-US"/>
              <a:t>Support self-sufficiency of private citizens</a:t>
            </a:r>
          </a:p>
          <a:p>
            <a:pPr marL="223520" indent="-223520"/>
            <a:endParaRPr lang="en-US"/>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Design Scope</a:t>
            </a:r>
          </a:p>
        </p:txBody>
      </p:sp>
      <p:sp>
        <p:nvSpPr>
          <p:cNvPr id="3" name="Content Placeholder 2">
            <a:extLst>
              <a:ext uri="{FF2B5EF4-FFF2-40B4-BE49-F238E27FC236}">
                <a16:creationId xmlns:a16="http://schemas.microsoft.com/office/drawing/2014/main" id="{11263552-3BC9-43E1-AA49-3FC6B33D61A2}"/>
              </a:ext>
            </a:extLst>
          </p:cNvPr>
          <p:cNvSpPr>
            <a:spLocks noGrp="1"/>
          </p:cNvSpPr>
          <p:nvPr>
            <p:ph idx="1"/>
          </p:nvPr>
        </p:nvSpPr>
        <p:spPr/>
        <p:txBody>
          <a:bodyPr vert="horz" lIns="91440" tIns="45720" rIns="91440" bIns="45720" rtlCol="0" anchor="t">
            <a:normAutofit/>
          </a:bodyPr>
          <a:lstStyle/>
          <a:p>
            <a:pPr marL="223520" indent="-223520"/>
            <a:r>
              <a:rPr lang="en-US">
                <a:ea typeface="+mn-lt"/>
                <a:cs typeface="+mn-lt"/>
              </a:rPr>
              <a:t>Access 8 independently controlled electrical outlets through a micro-computer that manages the outlets and hosts a web page, allowing verified users to direct power to the aquaponic electrical components</a:t>
            </a:r>
          </a:p>
          <a:p>
            <a:pPr marL="223520" indent="-223520"/>
            <a:r>
              <a:rPr lang="en-US">
                <a:ea typeface="+mn-lt"/>
                <a:cs typeface="+mn-lt"/>
              </a:rPr>
              <a:t>Allow users to run schedules on equipment, store and query data and logs, and optionally import open-source agricultural databases </a:t>
            </a:r>
          </a:p>
          <a:p>
            <a:pPr marL="223520" indent="-223520"/>
            <a:r>
              <a:rPr lang="en-US">
                <a:ea typeface="+mn-lt"/>
                <a:cs typeface="+mn-lt"/>
              </a:rPr>
              <a:t>Develop and build a dynamic, indoor, automated aquaponic garden that uses a web-based interface to automate the system components</a:t>
            </a:r>
            <a:endParaRPr lang="en-US"/>
          </a:p>
        </p:txBody>
      </p:sp>
    </p:spTree>
    <p:extLst>
      <p:ext uri="{BB962C8B-B14F-4D97-AF65-F5344CB8AC3E}">
        <p14:creationId xmlns:p14="http://schemas.microsoft.com/office/powerpoint/2010/main" val="310620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Market Analysis</a:t>
            </a:r>
          </a:p>
        </p:txBody>
      </p:sp>
      <p:sp>
        <p:nvSpPr>
          <p:cNvPr id="3" name="Content Placeholder 2"/>
          <p:cNvSpPr>
            <a:spLocks noGrp="1"/>
          </p:cNvSpPr>
          <p:nvPr>
            <p:ph idx="1"/>
          </p:nvPr>
        </p:nvSpPr>
        <p:spPr>
          <a:xfrm>
            <a:off x="1522412" y="1904999"/>
            <a:ext cx="5943707" cy="4330461"/>
          </a:xfrm>
        </p:spPr>
        <p:txBody>
          <a:bodyPr vert="horz" lIns="91440" tIns="45720" rIns="91440" bIns="45720" rtlCol="0" anchor="t">
            <a:normAutofit/>
          </a:bodyPr>
          <a:lstStyle/>
          <a:p>
            <a:pPr marL="223520" indent="-223520"/>
            <a:r>
              <a:rPr lang="en-US">
                <a:ea typeface="+mn-lt"/>
                <a:cs typeface="+mn-lt"/>
              </a:rPr>
              <a:t>A quick amazon search for “aquaponic systems” yields many different products, such as this $1500 system:</a:t>
            </a:r>
          </a:p>
          <a:p>
            <a:pPr marL="223520" indent="-223520"/>
            <a:r>
              <a:rPr lang="en-US">
                <a:ea typeface="+mn-lt"/>
                <a:cs typeface="+mn-lt"/>
              </a:rPr>
              <a:t>Our budget is well below this price, able to grow up to 107 plants (rather than 72) and gives a slightly larger growing area.</a:t>
            </a:r>
            <a:endParaRPr lang="en-US"/>
          </a:p>
          <a:p>
            <a:pPr marL="223520" indent="-223520"/>
            <a:r>
              <a:rPr lang="en-US">
                <a:ea typeface="+mn-lt"/>
                <a:cs typeface="+mn-lt"/>
              </a:rPr>
              <a:t>Many additional, smaller scale products are also available that offer timers or emergency shutoffs for power strips</a:t>
            </a:r>
          </a:p>
          <a:p>
            <a:pPr marL="223520" indent="-223520"/>
            <a:endParaRPr lang="en-US"/>
          </a:p>
        </p:txBody>
      </p:sp>
      <p:pic>
        <p:nvPicPr>
          <p:cNvPr id="5" name="Picture 4" descr="A picture containing furniture&#10;&#10;Description automatically generated">
            <a:extLst>
              <a:ext uri="{FF2B5EF4-FFF2-40B4-BE49-F238E27FC236}">
                <a16:creationId xmlns:a16="http://schemas.microsoft.com/office/drawing/2014/main" id="{79B63E73-3FDD-4FF9-B541-8281A9519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4897" y="1752600"/>
            <a:ext cx="3859459" cy="3859459"/>
          </a:xfrm>
          <a:prstGeom prst="rect">
            <a:avLst/>
          </a:prstGeom>
        </p:spPr>
      </p:pic>
    </p:spTree>
    <p:extLst>
      <p:ext uri="{BB962C8B-B14F-4D97-AF65-F5344CB8AC3E}">
        <p14:creationId xmlns:p14="http://schemas.microsoft.com/office/powerpoint/2010/main" val="420698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Design Objectives</a:t>
            </a:r>
          </a:p>
        </p:txBody>
      </p:sp>
      <p:sp>
        <p:nvSpPr>
          <p:cNvPr id="14" name="Content Placeholder 13">
            <a:extLst>
              <a:ext uri="{FF2B5EF4-FFF2-40B4-BE49-F238E27FC236}">
                <a16:creationId xmlns:a16="http://schemas.microsoft.com/office/drawing/2014/main" id="{6DFEDC55-02EC-4936-82D9-0DD626604F24}"/>
              </a:ext>
            </a:extLst>
          </p:cNvPr>
          <p:cNvSpPr>
            <a:spLocks noGrp="1"/>
          </p:cNvSpPr>
          <p:nvPr>
            <p:ph idx="1"/>
          </p:nvPr>
        </p:nvSpPr>
        <p:spPr/>
        <p:txBody>
          <a:bodyPr vert="horz" lIns="91440" tIns="45720" rIns="91440" bIns="45720" rtlCol="0" anchor="t">
            <a:normAutofit lnSpcReduction="10000"/>
          </a:bodyPr>
          <a:lstStyle/>
          <a:p>
            <a:pPr marL="223520" indent="-223520"/>
            <a:r>
              <a:rPr lang="en-US"/>
              <a:t>Objective Prime: The designed invention becomes as integrated into the modern-day kitchen as an oven, refrigerator, and sink. The designed invention is a leader in automating the aquaponic industry. </a:t>
            </a:r>
            <a:endParaRPr lang="en-US">
              <a:ea typeface="+mn-lt"/>
              <a:cs typeface="+mn-lt"/>
            </a:endParaRPr>
          </a:p>
          <a:p>
            <a:pPr marL="223520" indent="-223520"/>
            <a:r>
              <a:rPr lang="en-US"/>
              <a:t>1: Device allows users to independently operate 8 different outlets using remote access</a:t>
            </a:r>
            <a:endParaRPr lang="en-US">
              <a:ea typeface="+mn-lt"/>
              <a:cs typeface="+mn-lt"/>
            </a:endParaRPr>
          </a:p>
          <a:p>
            <a:pPr marL="223520" indent="-223520"/>
            <a:r>
              <a:rPr lang="en-US"/>
              <a:t>2: Device senses when the livestock tank water level is low and stops operations until water is added to the required level</a:t>
            </a:r>
            <a:endParaRPr lang="en-US">
              <a:ea typeface="+mn-lt"/>
              <a:cs typeface="+mn-lt"/>
            </a:endParaRPr>
          </a:p>
          <a:p>
            <a:pPr marL="223520" indent="-223520"/>
            <a:r>
              <a:rPr lang="en-US"/>
              <a:t>3: Device hosts a webpage that allows users to run automated scheduling for lights, aeration, and water pumps; store growth data; and log system modifications </a:t>
            </a:r>
          </a:p>
        </p:txBody>
      </p:sp>
    </p:spTree>
    <p:extLst>
      <p:ext uri="{BB962C8B-B14F-4D97-AF65-F5344CB8AC3E}">
        <p14:creationId xmlns:p14="http://schemas.microsoft.com/office/powerpoint/2010/main" val="46223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Objectives Cont. </a:t>
            </a:r>
          </a:p>
        </p:txBody>
      </p:sp>
      <p:sp>
        <p:nvSpPr>
          <p:cNvPr id="3" name="Text Placeholder 2"/>
          <p:cNvSpPr>
            <a:spLocks noGrp="1"/>
          </p:cNvSpPr>
          <p:nvPr>
            <p:ph idx="1"/>
          </p:nvPr>
        </p:nvSpPr>
        <p:spPr/>
        <p:txBody>
          <a:bodyPr vert="horz" lIns="91440" tIns="45720" rIns="91440" bIns="45720" rtlCol="0" anchor="t">
            <a:normAutofit/>
          </a:bodyPr>
          <a:lstStyle/>
          <a:p>
            <a:pPr marL="223520" indent="-223520"/>
            <a:r>
              <a:rPr lang="en-US">
                <a:ea typeface="+mn-lt"/>
                <a:cs typeface="+mn-lt"/>
              </a:rPr>
              <a:t>4: Device communicates with a server to notify users of new software versions and grow data</a:t>
            </a:r>
          </a:p>
          <a:p>
            <a:pPr marL="223520" indent="-223520"/>
            <a:r>
              <a:rPr lang="en-US">
                <a:ea typeface="+mn-lt"/>
                <a:cs typeface="+mn-lt"/>
              </a:rPr>
              <a:t>5: Device includes a prototype aquaponic system to show functionality, using a pipe system that would allow for up to 107 plants:</a:t>
            </a:r>
          </a:p>
          <a:p>
            <a:pPr marL="463232" lvl="1" indent="-223520"/>
            <a:r>
              <a:rPr lang="en-US">
                <a:ea typeface="+mn-lt"/>
                <a:cs typeface="+mn-lt"/>
              </a:rPr>
              <a:t>Size: 100x50x110cm/38"x19"x43" (of each pipe) </a:t>
            </a:r>
          </a:p>
          <a:p>
            <a:pPr marL="463232" lvl="1" indent="-223520"/>
            <a:r>
              <a:rPr lang="en-US">
                <a:ea typeface="+mn-lt"/>
                <a:cs typeface="+mn-lt"/>
              </a:rPr>
              <a:t>Hole Size: 32mm</a:t>
            </a:r>
          </a:p>
          <a:p>
            <a:pPr marL="463232" lvl="1" indent="-223520"/>
            <a:r>
              <a:rPr lang="en-US">
                <a:ea typeface="+mn-lt"/>
                <a:cs typeface="+mn-lt"/>
              </a:rPr>
              <a:t>Tube Diameter: 63mm</a:t>
            </a:r>
          </a:p>
          <a:p>
            <a:pPr marL="463232" lvl="1" indent="-223520"/>
            <a:r>
              <a:rPr lang="en-US">
                <a:ea typeface="+mn-lt"/>
                <a:cs typeface="+mn-lt"/>
              </a:rPr>
              <a:t>Width:  19 in</a:t>
            </a:r>
          </a:p>
          <a:p>
            <a:pPr marL="463232" lvl="1" indent="-223520"/>
            <a:r>
              <a:rPr lang="en-US">
                <a:ea typeface="+mn-lt"/>
                <a:cs typeface="+mn-lt"/>
              </a:rPr>
              <a:t>Length: 43 in</a:t>
            </a:r>
          </a:p>
          <a:p>
            <a:pPr marL="223520" indent="-223520"/>
            <a:endParaRPr lang="en-US">
              <a:ea typeface="+mn-lt"/>
              <a:cs typeface="+mn-lt"/>
            </a:endParaRPr>
          </a:p>
        </p:txBody>
      </p:sp>
      <p:pic>
        <p:nvPicPr>
          <p:cNvPr id="4" name="Picture 4" descr="A picture containing indoor, furniture&#10;&#10;Description automatically generated">
            <a:extLst>
              <a:ext uri="{FF2B5EF4-FFF2-40B4-BE49-F238E27FC236}">
                <a16:creationId xmlns:a16="http://schemas.microsoft.com/office/drawing/2014/main" id="{942312A7-B00B-4F93-B124-D4AF8F22F483}"/>
              </a:ext>
            </a:extLst>
          </p:cNvPr>
          <p:cNvPicPr>
            <a:picLocks noChangeAspect="1"/>
          </p:cNvPicPr>
          <p:nvPr/>
        </p:nvPicPr>
        <p:blipFill>
          <a:blip r:embed="rId2"/>
          <a:stretch>
            <a:fillRect/>
          </a:stretch>
        </p:blipFill>
        <p:spPr>
          <a:xfrm>
            <a:off x="8314350" y="3667125"/>
            <a:ext cx="2352062" cy="2352675"/>
          </a:xfrm>
          <a:prstGeom prst="rect">
            <a:avLst/>
          </a:prstGeom>
        </p:spPr>
      </p:pic>
    </p:spTree>
    <p:extLst>
      <p:ext uri="{BB962C8B-B14F-4D97-AF65-F5344CB8AC3E}">
        <p14:creationId xmlns:p14="http://schemas.microsoft.com/office/powerpoint/2010/main" val="247816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Assumptions</a:t>
            </a:r>
            <a:br>
              <a:rPr lang="en-US"/>
            </a:br>
            <a:r>
              <a:rPr lang="en-US" sz="2400"/>
              <a:t>The product will:</a:t>
            </a:r>
            <a:endParaRPr lang="en-US"/>
          </a:p>
        </p:txBody>
      </p:sp>
      <p:sp>
        <p:nvSpPr>
          <p:cNvPr id="8" name="Content Placeholder 7">
            <a:extLst>
              <a:ext uri="{FF2B5EF4-FFF2-40B4-BE49-F238E27FC236}">
                <a16:creationId xmlns:a16="http://schemas.microsoft.com/office/drawing/2014/main" id="{9E0BAC2C-4625-4183-B989-5F00677AEB61}"/>
              </a:ext>
            </a:extLst>
          </p:cNvPr>
          <p:cNvSpPr>
            <a:spLocks noGrp="1"/>
          </p:cNvSpPr>
          <p:nvPr>
            <p:ph sz="half" idx="1"/>
          </p:nvPr>
        </p:nvSpPr>
        <p:spPr/>
        <p:txBody>
          <a:bodyPr/>
          <a:lstStyle/>
          <a:p>
            <a:r>
              <a:rPr lang="en-US"/>
              <a:t>Be powered by a GFCI compliant outlet</a:t>
            </a:r>
          </a:p>
          <a:p>
            <a:r>
              <a:rPr lang="en-US"/>
              <a:t>Provide power to 120V, three-prong appliances</a:t>
            </a:r>
          </a:p>
          <a:p>
            <a:r>
              <a:rPr lang="en-US"/>
              <a:t>Be used indoors, in a dry environment below 50% humidity</a:t>
            </a:r>
          </a:p>
          <a:p>
            <a:r>
              <a:rPr lang="en-US"/>
              <a:t>Be used between 40°F and 100°F</a:t>
            </a:r>
          </a:p>
          <a:p>
            <a:endParaRPr lang="en-US"/>
          </a:p>
          <a:p>
            <a:endParaRPr lang="en-US"/>
          </a:p>
        </p:txBody>
      </p:sp>
      <p:sp>
        <p:nvSpPr>
          <p:cNvPr id="9" name="Content Placeholder 8">
            <a:extLst>
              <a:ext uri="{FF2B5EF4-FFF2-40B4-BE49-F238E27FC236}">
                <a16:creationId xmlns:a16="http://schemas.microsoft.com/office/drawing/2014/main" id="{DC812581-C25F-427D-AD04-A6064B0D612F}"/>
              </a:ext>
            </a:extLst>
          </p:cNvPr>
          <p:cNvSpPr>
            <a:spLocks noGrp="1"/>
          </p:cNvSpPr>
          <p:nvPr>
            <p:ph sz="half" idx="2"/>
          </p:nvPr>
        </p:nvSpPr>
        <p:spPr/>
        <p:txBody>
          <a:bodyPr/>
          <a:lstStyle/>
          <a:p>
            <a:r>
              <a:rPr lang="en-US"/>
              <a:t>Be connected to an IEEE 802.11 wireless network</a:t>
            </a:r>
          </a:p>
          <a:p>
            <a:r>
              <a:rPr lang="en-US"/>
              <a:t>Be secured to a stable, flat surface with screws</a:t>
            </a:r>
          </a:p>
          <a:p>
            <a:r>
              <a:rPr lang="en-US"/>
              <a:t>Be used in conjunction with a fillable and drainable tank</a:t>
            </a:r>
          </a:p>
          <a:p>
            <a:r>
              <a:rPr lang="en-US"/>
              <a:t>Be used in compliance with provided instructions</a:t>
            </a:r>
          </a:p>
        </p:txBody>
      </p:sp>
    </p:spTree>
    <p:extLst>
      <p:ext uri="{BB962C8B-B14F-4D97-AF65-F5344CB8AC3E}">
        <p14:creationId xmlns:p14="http://schemas.microsoft.com/office/powerpoint/2010/main" val="268142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91B01-E539-45E4-9067-FE9B89078624}"/>
              </a:ext>
            </a:extLst>
          </p:cNvPr>
          <p:cNvSpPr>
            <a:spLocks noGrp="1"/>
          </p:cNvSpPr>
          <p:nvPr>
            <p:ph type="title"/>
          </p:nvPr>
        </p:nvSpPr>
        <p:spPr/>
        <p:txBody>
          <a:bodyPr/>
          <a:lstStyle/>
          <a:p>
            <a:r>
              <a:rPr lang="en-US"/>
              <a:t>Design Requirements</a:t>
            </a:r>
            <a:br>
              <a:rPr lang="en-US"/>
            </a:br>
            <a:r>
              <a:rPr lang="en-US" sz="2400"/>
              <a:t>Device:				Prototype:</a:t>
            </a:r>
            <a:endParaRPr lang="en-US"/>
          </a:p>
        </p:txBody>
      </p:sp>
      <p:sp>
        <p:nvSpPr>
          <p:cNvPr id="4" name="Content Placeholder 3">
            <a:extLst>
              <a:ext uri="{FF2B5EF4-FFF2-40B4-BE49-F238E27FC236}">
                <a16:creationId xmlns:a16="http://schemas.microsoft.com/office/drawing/2014/main" id="{7813400C-01B9-4832-B158-6932DEE62BB1}"/>
              </a:ext>
            </a:extLst>
          </p:cNvPr>
          <p:cNvSpPr>
            <a:spLocks noGrp="1"/>
          </p:cNvSpPr>
          <p:nvPr>
            <p:ph sz="half" idx="1"/>
          </p:nvPr>
        </p:nvSpPr>
        <p:spPr/>
        <p:txBody>
          <a:bodyPr/>
          <a:lstStyle/>
          <a:p>
            <a:r>
              <a:rPr lang="en-US"/>
              <a:t>Modify flow independently on 8 electrical sockets</a:t>
            </a:r>
          </a:p>
          <a:p>
            <a:r>
              <a:rPr lang="en-US"/>
              <a:t>Host a webpage to allow user interaction</a:t>
            </a:r>
          </a:p>
          <a:p>
            <a:r>
              <a:rPr lang="en-US"/>
              <a:t>Store growth and yield data, schedules, and system logs</a:t>
            </a:r>
          </a:p>
          <a:p>
            <a:r>
              <a:rPr lang="en-US"/>
              <a:t>Maintain system time to ensure accurate scheduled events</a:t>
            </a:r>
          </a:p>
          <a:p>
            <a:endParaRPr lang="en-US"/>
          </a:p>
          <a:p>
            <a:endParaRPr lang="en-US"/>
          </a:p>
        </p:txBody>
      </p:sp>
      <p:sp>
        <p:nvSpPr>
          <p:cNvPr id="5" name="Content Placeholder 4">
            <a:extLst>
              <a:ext uri="{FF2B5EF4-FFF2-40B4-BE49-F238E27FC236}">
                <a16:creationId xmlns:a16="http://schemas.microsoft.com/office/drawing/2014/main" id="{2384CE56-EBFD-4F81-99A3-05D27B5CD903}"/>
              </a:ext>
            </a:extLst>
          </p:cNvPr>
          <p:cNvSpPr>
            <a:spLocks noGrp="1"/>
          </p:cNvSpPr>
          <p:nvPr>
            <p:ph sz="half" idx="2"/>
          </p:nvPr>
        </p:nvSpPr>
        <p:spPr/>
        <p:txBody>
          <a:bodyPr/>
          <a:lstStyle/>
          <a:p>
            <a:r>
              <a:rPr lang="en-US"/>
              <a:t>Use multiple water pumps, aeration devices, and light</a:t>
            </a:r>
          </a:p>
          <a:p>
            <a:r>
              <a:rPr lang="en-US"/>
              <a:t>Operate as a growth medium for various vegetation</a:t>
            </a:r>
          </a:p>
          <a:p>
            <a:r>
              <a:rPr lang="en-US"/>
              <a:t>Operate as an environment for aquatic livestock</a:t>
            </a:r>
          </a:p>
          <a:p>
            <a:r>
              <a:rPr lang="en-US"/>
              <a:t>Manage livestock tank water for distributing to grow beds</a:t>
            </a:r>
          </a:p>
        </p:txBody>
      </p:sp>
    </p:spTree>
    <p:extLst>
      <p:ext uri="{BB962C8B-B14F-4D97-AF65-F5344CB8AC3E}">
        <p14:creationId xmlns:p14="http://schemas.microsoft.com/office/powerpoint/2010/main" val="173572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Requirements Cont.</a:t>
            </a:r>
            <a:br>
              <a:rPr lang="en-US"/>
            </a:br>
            <a:r>
              <a:rPr lang="en-US" sz="2400"/>
              <a:t>Webpage:</a:t>
            </a:r>
            <a:endParaRPr lang="en-US"/>
          </a:p>
        </p:txBody>
      </p:sp>
      <p:sp>
        <p:nvSpPr>
          <p:cNvPr id="3" name="Content Placeholder 2">
            <a:extLst>
              <a:ext uri="{FF2B5EF4-FFF2-40B4-BE49-F238E27FC236}">
                <a16:creationId xmlns:a16="http://schemas.microsoft.com/office/drawing/2014/main" id="{BBE2B9E9-6D8D-4FD4-8315-3A2F1296EBB4}"/>
              </a:ext>
            </a:extLst>
          </p:cNvPr>
          <p:cNvSpPr>
            <a:spLocks noGrp="1"/>
          </p:cNvSpPr>
          <p:nvPr>
            <p:ph sz="half" idx="1"/>
          </p:nvPr>
        </p:nvSpPr>
        <p:spPr/>
        <p:txBody>
          <a:bodyPr/>
          <a:lstStyle/>
          <a:p>
            <a:r>
              <a:rPr lang="en-US"/>
              <a:t>Allow assignment of pre-selected or custom appliance types to individual outlets</a:t>
            </a:r>
          </a:p>
          <a:p>
            <a:r>
              <a:rPr lang="en-US"/>
              <a:t>Maintain independent daily schedules for individual sockets</a:t>
            </a:r>
          </a:p>
          <a:p>
            <a:r>
              <a:rPr lang="en-US"/>
              <a:t>Allow scheduling of outlets based on assigned type</a:t>
            </a:r>
          </a:p>
          <a:p>
            <a:r>
              <a:rPr lang="en-US"/>
              <a:t>Allow user settings for maximum and minimum operating water levels</a:t>
            </a:r>
          </a:p>
          <a:p>
            <a:endParaRPr lang="en-US"/>
          </a:p>
        </p:txBody>
      </p:sp>
      <p:sp>
        <p:nvSpPr>
          <p:cNvPr id="4" name="Content Placeholder 3">
            <a:extLst>
              <a:ext uri="{FF2B5EF4-FFF2-40B4-BE49-F238E27FC236}">
                <a16:creationId xmlns:a16="http://schemas.microsoft.com/office/drawing/2014/main" id="{C05D8EAB-AF99-487E-8581-A6395125E29F}"/>
              </a:ext>
            </a:extLst>
          </p:cNvPr>
          <p:cNvSpPr>
            <a:spLocks noGrp="1"/>
          </p:cNvSpPr>
          <p:nvPr>
            <p:ph sz="half" idx="2"/>
          </p:nvPr>
        </p:nvSpPr>
        <p:spPr/>
        <p:txBody>
          <a:bodyPr/>
          <a:lstStyle/>
          <a:p>
            <a:r>
              <a:rPr lang="en-US"/>
              <a:t>Notify users via email of unscheduled changes to the system state</a:t>
            </a:r>
          </a:p>
          <a:p>
            <a:r>
              <a:rPr lang="en-US"/>
              <a:t>Allow users remote access to scheduling through a wide area network</a:t>
            </a:r>
          </a:p>
          <a:p>
            <a:r>
              <a:rPr lang="en-US"/>
              <a:t>Maintain password-verified identification of users with access to the system</a:t>
            </a:r>
          </a:p>
        </p:txBody>
      </p:sp>
    </p:spTree>
    <p:extLst>
      <p:ext uri="{BB962C8B-B14F-4D97-AF65-F5344CB8AC3E}">
        <p14:creationId xmlns:p14="http://schemas.microsoft.com/office/powerpoint/2010/main" val="25905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Constraints</a:t>
            </a:r>
          </a:p>
        </p:txBody>
      </p:sp>
      <p:sp>
        <p:nvSpPr>
          <p:cNvPr id="3" name="Content Placeholder 2"/>
          <p:cNvSpPr>
            <a:spLocks noGrp="1"/>
          </p:cNvSpPr>
          <p:nvPr>
            <p:ph idx="1"/>
          </p:nvPr>
        </p:nvSpPr>
        <p:spPr/>
        <p:txBody>
          <a:bodyPr vert="horz" lIns="91440" tIns="45720" rIns="91440" bIns="45720" rtlCol="0" anchor="t">
            <a:normAutofit/>
          </a:bodyPr>
          <a:lstStyle/>
          <a:p>
            <a:pPr marL="223520" indent="-223520"/>
            <a:r>
              <a:rPr lang="en-US">
                <a:ea typeface="+mn-lt"/>
                <a:cs typeface="+mn-lt"/>
              </a:rPr>
              <a:t>Device will be built using a Raspberry Pi board with SD card</a:t>
            </a:r>
          </a:p>
          <a:p>
            <a:pPr marL="223520" indent="-223520"/>
            <a:r>
              <a:rPr lang="en-US">
                <a:ea typeface="+mn-lt"/>
                <a:cs typeface="+mn-lt"/>
              </a:rPr>
              <a:t>A relay board will bridge between the outlets and the GPIO and will be scripted in Perl</a:t>
            </a:r>
          </a:p>
          <a:p>
            <a:pPr marL="223520" indent="-223520"/>
            <a:r>
              <a:rPr lang="en-US">
                <a:ea typeface="+mn-lt"/>
                <a:cs typeface="+mn-lt"/>
              </a:rPr>
              <a:t>System will have a maximum power consumption of 20 amps</a:t>
            </a:r>
          </a:p>
          <a:p>
            <a:pPr marL="223520" indent="-223520"/>
            <a:r>
              <a:rPr lang="en-US">
                <a:ea typeface="+mn-lt"/>
                <a:cs typeface="+mn-lt"/>
              </a:rPr>
              <a:t>Prototype will be built using a ~50-gallon storage tank</a:t>
            </a:r>
          </a:p>
          <a:p>
            <a:pPr marL="223520" indent="-223520"/>
            <a:r>
              <a:rPr lang="en-US">
                <a:ea typeface="+mn-lt"/>
                <a:cs typeface="+mn-lt"/>
              </a:rPr>
              <a:t>Device and prototype system will sum to less than $200USD in total cost</a:t>
            </a:r>
          </a:p>
          <a:p>
            <a:pPr marL="223520" indent="-223520"/>
            <a:endParaRPr lang="en-US">
              <a:ea typeface="+mn-lt"/>
              <a:cs typeface="+mn-lt"/>
            </a:endParaRPr>
          </a:p>
          <a:p>
            <a:pPr marL="223520" indent="-223520"/>
            <a:endParaRPr lang="en-US"/>
          </a:p>
        </p:txBody>
      </p:sp>
    </p:spTree>
    <p:extLst>
      <p:ext uri="{BB962C8B-B14F-4D97-AF65-F5344CB8AC3E}">
        <p14:creationId xmlns:p14="http://schemas.microsoft.com/office/powerpoint/2010/main" val="276513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Design Standards</a:t>
            </a:r>
          </a:p>
        </p:txBody>
      </p:sp>
      <p:sp>
        <p:nvSpPr>
          <p:cNvPr id="2" name="Picture Placeholder 1" descr="An empty placeholder to add an image. Click on the placeholder and select the image that you wish to add."/>
          <p:cNvSpPr>
            <a:spLocks noGrp="1"/>
          </p:cNvSpPr>
          <p:nvPr>
            <p:ph idx="1"/>
          </p:nvPr>
        </p:nvSpPr>
        <p:spPr/>
        <p:txBody>
          <a:bodyPr vert="horz" lIns="91440" tIns="45720" rIns="91440" bIns="45720" rtlCol="0" anchor="t">
            <a:normAutofit/>
          </a:bodyPr>
          <a:lstStyle/>
          <a:p>
            <a:pPr marL="223520" indent="-223520"/>
            <a:r>
              <a:rPr lang="en-US">
                <a:ea typeface="+mn-lt"/>
                <a:cs typeface="+mn-lt"/>
              </a:rPr>
              <a:t>ISO/IEC 12207:2008 – Systems and software engineering – Software life cycle processes, ISO, 2008</a:t>
            </a:r>
          </a:p>
          <a:p>
            <a:pPr marL="223520" indent="-223520"/>
            <a:r>
              <a:rPr lang="en-US">
                <a:ea typeface="+mn-lt"/>
                <a:cs typeface="+mn-lt"/>
              </a:rPr>
              <a:t>ISO/IEC/IEEE 26511:2018 – Systems and software engineering – Requirements for managers of information for users of systems, software, and service, ISO/IEC JTC 1/SC 7, 2018</a:t>
            </a:r>
          </a:p>
          <a:p>
            <a:pPr marL="223520" indent="-223520"/>
            <a:r>
              <a:rPr lang="en-US">
                <a:ea typeface="+mn-lt"/>
                <a:cs typeface="+mn-lt"/>
              </a:rPr>
              <a:t>NEMA 5/IEC 60906-2:2011 – IEC system of plugs and socket-outlets for household and similar purposes, PEL/23, 2011</a:t>
            </a:r>
          </a:p>
          <a:p>
            <a:pPr marL="223520" indent="-223520"/>
            <a:r>
              <a:rPr lang="en-US">
                <a:ea typeface="+mn-lt"/>
                <a:cs typeface="+mn-lt"/>
              </a:rPr>
              <a:t>IEEE 802.11ac-2013 – IEEE Standard for Information technology – Telecommunications and information exchange between systems, C/LM, 2013</a:t>
            </a:r>
          </a:p>
        </p:txBody>
      </p:sp>
      <p:sp>
        <p:nvSpPr>
          <p:cNvPr id="4" name="TextBox 3">
            <a:extLst>
              <a:ext uri="{FF2B5EF4-FFF2-40B4-BE49-F238E27FC236}">
                <a16:creationId xmlns:a16="http://schemas.microsoft.com/office/drawing/2014/main" id="{00674007-A4B1-4504-931E-CDA20EAD8D41}"/>
              </a:ext>
            </a:extLst>
          </p:cNvPr>
          <p:cNvSpPr txBox="1"/>
          <p:nvPr/>
        </p:nvSpPr>
        <p:spPr>
          <a:xfrm>
            <a:off x="1784412" y="6125592"/>
            <a:ext cx="3151572" cy="400110"/>
          </a:xfrm>
          <a:prstGeom prst="rect">
            <a:avLst/>
          </a:prstGeom>
          <a:noFill/>
        </p:spPr>
        <p:txBody>
          <a:bodyPr wrap="square" rtlCol="0">
            <a:spAutoFit/>
          </a:bodyPr>
          <a:lstStyle/>
          <a:p>
            <a:r>
              <a:rPr lang="en-US" sz="1000"/>
              <a:t>ISO – International Organization for Standardization</a:t>
            </a:r>
          </a:p>
          <a:p>
            <a:r>
              <a:rPr lang="en-US" sz="1000"/>
              <a:t>IEC – International Electrotechnical Commission</a:t>
            </a:r>
          </a:p>
        </p:txBody>
      </p:sp>
      <p:sp>
        <p:nvSpPr>
          <p:cNvPr id="5" name="TextBox 4">
            <a:extLst>
              <a:ext uri="{FF2B5EF4-FFF2-40B4-BE49-F238E27FC236}">
                <a16:creationId xmlns:a16="http://schemas.microsoft.com/office/drawing/2014/main" id="{E30092DF-6AED-4EF1-A289-F64E4799C008}"/>
              </a:ext>
            </a:extLst>
          </p:cNvPr>
          <p:cNvSpPr txBox="1"/>
          <p:nvPr/>
        </p:nvSpPr>
        <p:spPr>
          <a:xfrm>
            <a:off x="4786544" y="6125592"/>
            <a:ext cx="3151572" cy="400110"/>
          </a:xfrm>
          <a:prstGeom prst="rect">
            <a:avLst/>
          </a:prstGeom>
          <a:noFill/>
        </p:spPr>
        <p:txBody>
          <a:bodyPr wrap="square" rtlCol="0">
            <a:spAutoFit/>
          </a:bodyPr>
          <a:lstStyle/>
          <a:p>
            <a:r>
              <a:rPr lang="en-US" sz="1000"/>
              <a:t>IEEE – Institute of Electrical and Electronics Engineers</a:t>
            </a:r>
          </a:p>
          <a:p>
            <a:r>
              <a:rPr lang="en-US" sz="1000"/>
              <a:t>NEMA – National Electrical Manufacturers Association</a:t>
            </a:r>
          </a:p>
        </p:txBody>
      </p:sp>
      <p:sp>
        <p:nvSpPr>
          <p:cNvPr id="6" name="TextBox 5">
            <a:extLst>
              <a:ext uri="{FF2B5EF4-FFF2-40B4-BE49-F238E27FC236}">
                <a16:creationId xmlns:a16="http://schemas.microsoft.com/office/drawing/2014/main" id="{D5FC2EB0-8E5F-4682-AC57-BBAFE56C6D5E}"/>
              </a:ext>
            </a:extLst>
          </p:cNvPr>
          <p:cNvSpPr txBox="1"/>
          <p:nvPr/>
        </p:nvSpPr>
        <p:spPr>
          <a:xfrm>
            <a:off x="7877451" y="6128425"/>
            <a:ext cx="3151572" cy="553998"/>
          </a:xfrm>
          <a:prstGeom prst="rect">
            <a:avLst/>
          </a:prstGeom>
          <a:noFill/>
        </p:spPr>
        <p:txBody>
          <a:bodyPr wrap="square" rtlCol="0">
            <a:spAutoFit/>
          </a:bodyPr>
          <a:lstStyle/>
          <a:p>
            <a:r>
              <a:rPr lang="en-US" sz="1000"/>
              <a:t>C/LM – LAN/MAN Standards Committee</a:t>
            </a:r>
          </a:p>
          <a:p>
            <a:r>
              <a:rPr lang="en-US" sz="1000"/>
              <a:t>LAN/MAN – Local Area Network and Metropolitan Area Network</a:t>
            </a:r>
          </a:p>
        </p:txBody>
      </p:sp>
    </p:spTree>
    <p:extLst>
      <p:ext uri="{BB962C8B-B14F-4D97-AF65-F5344CB8AC3E}">
        <p14:creationId xmlns:p14="http://schemas.microsoft.com/office/powerpoint/2010/main" val="110850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BEC1-CDEE-4BC1-B865-E32F76DC036D}"/>
              </a:ext>
            </a:extLst>
          </p:cNvPr>
          <p:cNvSpPr>
            <a:spLocks noGrp="1"/>
          </p:cNvSpPr>
          <p:nvPr>
            <p:ph type="title"/>
          </p:nvPr>
        </p:nvSpPr>
        <p:spPr/>
        <p:txBody>
          <a:bodyPr/>
          <a:lstStyle/>
          <a:p>
            <a:r>
              <a:rPr lang="en-US"/>
              <a:t>Design Functionality</a:t>
            </a:r>
          </a:p>
        </p:txBody>
      </p:sp>
      <p:sp>
        <p:nvSpPr>
          <p:cNvPr id="3" name="Content Placeholder 2">
            <a:extLst>
              <a:ext uri="{FF2B5EF4-FFF2-40B4-BE49-F238E27FC236}">
                <a16:creationId xmlns:a16="http://schemas.microsoft.com/office/drawing/2014/main" id="{90A16095-7224-4FAF-8382-F09BAE46DB3D}"/>
              </a:ext>
            </a:extLst>
          </p:cNvPr>
          <p:cNvSpPr>
            <a:spLocks noGrp="1"/>
          </p:cNvSpPr>
          <p:nvPr>
            <p:ph idx="1"/>
          </p:nvPr>
        </p:nvSpPr>
        <p:spPr/>
        <p:txBody>
          <a:bodyPr vert="horz" lIns="91440" tIns="45720" rIns="91440" bIns="45720" rtlCol="0" anchor="t">
            <a:normAutofit lnSpcReduction="10000"/>
          </a:bodyPr>
          <a:lstStyle/>
          <a:p>
            <a:pPr marL="223520" indent="-223520"/>
            <a:r>
              <a:rPr lang="en-US">
                <a:ea typeface="+mn-lt"/>
                <a:cs typeface="+mn-lt"/>
              </a:rPr>
              <a:t>User Interface</a:t>
            </a:r>
          </a:p>
          <a:p>
            <a:pPr lvl="1"/>
            <a:r>
              <a:rPr lang="en-US">
                <a:ea typeface="+mn-lt"/>
                <a:cs typeface="+mn-lt"/>
              </a:rPr>
              <a:t>Allows user interactions with the system</a:t>
            </a:r>
          </a:p>
          <a:p>
            <a:pPr lvl="2"/>
            <a:r>
              <a:rPr lang="en-US">
                <a:ea typeface="+mn-lt"/>
                <a:cs typeface="+mn-lt"/>
              </a:rPr>
              <a:t>Interactions include logging data, setting schedules, monitoring plant growth, configuring associative devices</a:t>
            </a:r>
          </a:p>
          <a:p>
            <a:pPr lvl="1"/>
            <a:r>
              <a:rPr lang="en-US">
                <a:ea typeface="+mn-lt"/>
                <a:cs typeface="+mn-lt"/>
              </a:rPr>
              <a:t>Submits user data to the System API to process</a:t>
            </a:r>
          </a:p>
          <a:p>
            <a:pPr marL="223520" indent="-223520"/>
            <a:r>
              <a:rPr lang="en-US">
                <a:ea typeface="+mn-lt"/>
                <a:cs typeface="+mn-lt"/>
              </a:rPr>
              <a:t>System API</a:t>
            </a:r>
          </a:p>
          <a:p>
            <a:pPr lvl="1"/>
            <a:r>
              <a:rPr lang="en-US">
                <a:ea typeface="+mn-lt"/>
                <a:cs typeface="+mn-lt"/>
              </a:rPr>
              <a:t>Supplies an intermediary between the user interface, data store, and flow controller</a:t>
            </a:r>
          </a:p>
          <a:p>
            <a:pPr lvl="1"/>
            <a:r>
              <a:rPr lang="en-US">
                <a:ea typeface="+mn-lt"/>
                <a:cs typeface="+mn-lt"/>
              </a:rPr>
              <a:t>Processes data from the User Interface</a:t>
            </a:r>
          </a:p>
          <a:p>
            <a:pPr lvl="1"/>
            <a:r>
              <a:rPr lang="en-US">
                <a:ea typeface="+mn-lt"/>
                <a:cs typeface="+mn-lt"/>
              </a:rPr>
              <a:t>Stores data in the Data Store</a:t>
            </a:r>
          </a:p>
          <a:p>
            <a:pPr lvl="1"/>
            <a:r>
              <a:rPr lang="en-US">
                <a:ea typeface="+mn-lt"/>
                <a:cs typeface="+mn-lt"/>
              </a:rPr>
              <a:t>Actuates the Flow Controller</a:t>
            </a:r>
          </a:p>
          <a:p>
            <a:pPr marL="0" indent="0">
              <a:buNone/>
            </a:pPr>
            <a:endParaRPr lang="en-US"/>
          </a:p>
        </p:txBody>
      </p:sp>
    </p:spTree>
    <p:extLst>
      <p:ext uri="{BB962C8B-B14F-4D97-AF65-F5344CB8AC3E}">
        <p14:creationId xmlns:p14="http://schemas.microsoft.com/office/powerpoint/2010/main" val="26094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A22E-AE4C-41F2-A8FE-3322338F1093}"/>
              </a:ext>
            </a:extLst>
          </p:cNvPr>
          <p:cNvSpPr>
            <a:spLocks noGrp="1"/>
          </p:cNvSpPr>
          <p:nvPr>
            <p:ph type="title"/>
          </p:nvPr>
        </p:nvSpPr>
        <p:spPr/>
        <p:txBody>
          <a:bodyPr/>
          <a:lstStyle/>
          <a:p>
            <a:r>
              <a:rPr lang="en-US"/>
              <a:t>Design Functionality Cont. </a:t>
            </a:r>
          </a:p>
        </p:txBody>
      </p:sp>
      <p:sp>
        <p:nvSpPr>
          <p:cNvPr id="3" name="Content Placeholder 2">
            <a:extLst>
              <a:ext uri="{FF2B5EF4-FFF2-40B4-BE49-F238E27FC236}">
                <a16:creationId xmlns:a16="http://schemas.microsoft.com/office/drawing/2014/main" id="{33092A2A-F525-47A2-8868-462FC9A2DF71}"/>
              </a:ext>
            </a:extLst>
          </p:cNvPr>
          <p:cNvSpPr>
            <a:spLocks noGrp="1"/>
          </p:cNvSpPr>
          <p:nvPr>
            <p:ph idx="1"/>
          </p:nvPr>
        </p:nvSpPr>
        <p:spPr/>
        <p:txBody>
          <a:bodyPr vert="horz" lIns="91440" tIns="45720" rIns="91440" bIns="45720" rtlCol="0" anchor="t">
            <a:normAutofit fontScale="92500" lnSpcReduction="20000"/>
          </a:bodyPr>
          <a:lstStyle/>
          <a:p>
            <a:pPr marL="223520" indent="-223520"/>
            <a:r>
              <a:rPr lang="en-US">
                <a:ea typeface="+mn-lt"/>
                <a:cs typeface="+mn-lt"/>
              </a:rPr>
              <a:t>Flow Controller</a:t>
            </a:r>
          </a:p>
          <a:p>
            <a:pPr lvl="1"/>
            <a:r>
              <a:rPr lang="en-US">
                <a:ea typeface="+mn-lt"/>
                <a:cs typeface="+mn-lt"/>
              </a:rPr>
              <a:t>Receives signal from system API and allows or denies current flow</a:t>
            </a:r>
          </a:p>
          <a:p>
            <a:pPr lvl="1"/>
            <a:r>
              <a:rPr lang="en-US">
                <a:ea typeface="+mn-lt"/>
                <a:cs typeface="+mn-lt"/>
              </a:rPr>
              <a:t>Alters the power being sent to different devices within the Aquaponic System</a:t>
            </a:r>
          </a:p>
          <a:p>
            <a:pPr lvl="1"/>
            <a:r>
              <a:rPr lang="en-US">
                <a:ea typeface="+mn-lt"/>
                <a:cs typeface="+mn-lt"/>
              </a:rPr>
              <a:t>Sends signals via GPIO to individual channels on an 8-channel relay board, altering current flow to the strip board socket </a:t>
            </a:r>
          </a:p>
          <a:p>
            <a:pPr lvl="1"/>
            <a:r>
              <a:rPr lang="en-US">
                <a:ea typeface="+mn-lt"/>
                <a:cs typeface="+mn-lt"/>
              </a:rPr>
              <a:t>Senses water level and shuts off specific sockets when pre-set conditions are not met</a:t>
            </a:r>
          </a:p>
          <a:p>
            <a:pPr marL="223520" indent="-223520"/>
            <a:r>
              <a:rPr lang="en-US">
                <a:ea typeface="+mn-lt"/>
                <a:cs typeface="+mn-lt"/>
              </a:rPr>
              <a:t>Data Store</a:t>
            </a:r>
          </a:p>
          <a:p>
            <a:pPr lvl="1"/>
            <a:r>
              <a:rPr lang="en-US">
                <a:ea typeface="+mn-lt"/>
                <a:cs typeface="+mn-lt"/>
              </a:rPr>
              <a:t>Stores data necessary to keep system functioning properly, such as system logs and scheduling data</a:t>
            </a:r>
          </a:p>
          <a:p>
            <a:pPr marL="223520" indent="-223520"/>
            <a:r>
              <a:rPr lang="en-US">
                <a:ea typeface="+mn-lt"/>
                <a:cs typeface="+mn-lt"/>
              </a:rPr>
              <a:t>Aquaponic System</a:t>
            </a:r>
          </a:p>
          <a:p>
            <a:pPr lvl="1"/>
            <a:r>
              <a:rPr lang="en-US">
                <a:ea typeface="+mn-lt"/>
                <a:cs typeface="+mn-lt"/>
              </a:rPr>
              <a:t>Supplies an environment for the growth of aquatic livestock, vegetation, and/or flowers for agricultural purposes</a:t>
            </a:r>
          </a:p>
        </p:txBody>
      </p:sp>
    </p:spTree>
    <p:extLst>
      <p:ext uri="{BB962C8B-B14F-4D97-AF65-F5344CB8AC3E}">
        <p14:creationId xmlns:p14="http://schemas.microsoft.com/office/powerpoint/2010/main" val="4114667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E5347-1A37-4A3C-84CD-C94F3FB5FCAE}"/>
              </a:ext>
            </a:extLst>
          </p:cNvPr>
          <p:cNvSpPr>
            <a:spLocks noGrp="1"/>
          </p:cNvSpPr>
          <p:nvPr>
            <p:ph type="title"/>
          </p:nvPr>
        </p:nvSpPr>
        <p:spPr/>
        <p:txBody>
          <a:bodyPr/>
          <a:lstStyle/>
          <a:p>
            <a:r>
              <a:rPr lang="en-US"/>
              <a:t>Design Impact</a:t>
            </a:r>
          </a:p>
        </p:txBody>
      </p:sp>
      <p:sp>
        <p:nvSpPr>
          <p:cNvPr id="3" name="Content Placeholder 2">
            <a:extLst>
              <a:ext uri="{FF2B5EF4-FFF2-40B4-BE49-F238E27FC236}">
                <a16:creationId xmlns:a16="http://schemas.microsoft.com/office/drawing/2014/main" id="{EA9D2D87-4247-4F5E-96BF-9053D4ED23BA}"/>
              </a:ext>
            </a:extLst>
          </p:cNvPr>
          <p:cNvSpPr>
            <a:spLocks noGrp="1"/>
          </p:cNvSpPr>
          <p:nvPr>
            <p:ph idx="1"/>
          </p:nvPr>
        </p:nvSpPr>
        <p:spPr/>
        <p:txBody>
          <a:bodyPr vert="horz" lIns="91440" tIns="45720" rIns="91440" bIns="45720" rtlCol="0" anchor="t">
            <a:normAutofit fontScale="85000" lnSpcReduction="10000"/>
          </a:bodyPr>
          <a:lstStyle/>
          <a:p>
            <a:pPr marL="223520" indent="-223520"/>
            <a:r>
              <a:rPr lang="en-US">
                <a:ea typeface="+mn-lt"/>
                <a:cs typeface="+mn-lt"/>
              </a:rPr>
              <a:t>Cultural : </a:t>
            </a:r>
          </a:p>
          <a:p>
            <a:pPr marL="463232" lvl="1" indent="-223520"/>
            <a:r>
              <a:rPr lang="en-US">
                <a:ea typeface="+mn-lt"/>
                <a:cs typeface="+mn-lt"/>
              </a:rPr>
              <a:t>Automated aquaponic systems being used in underdeveloped countries could affect the economy enough to see the country adopt new cultures or reevaluate current cultural norms</a:t>
            </a:r>
          </a:p>
          <a:p>
            <a:pPr marL="463232" lvl="1" indent="-223520"/>
            <a:r>
              <a:rPr lang="en-US">
                <a:ea typeface="+mn-lt"/>
                <a:cs typeface="+mn-lt"/>
              </a:rPr>
              <a:t>These changes may be positive or negative</a:t>
            </a:r>
          </a:p>
          <a:p>
            <a:pPr marL="223520" indent="-223520"/>
            <a:r>
              <a:rPr lang="en-US">
                <a:ea typeface="+mn-lt"/>
                <a:cs typeface="+mn-lt"/>
              </a:rPr>
              <a:t>Economic: </a:t>
            </a:r>
          </a:p>
          <a:p>
            <a:pPr marL="463232" lvl="1" indent="-223520"/>
            <a:r>
              <a:rPr lang="en-US">
                <a:ea typeface="+mn-lt"/>
                <a:cs typeface="+mn-lt"/>
              </a:rPr>
              <a:t>Farms could reduce the cost to operate which could lead to more profit </a:t>
            </a:r>
          </a:p>
          <a:p>
            <a:pPr marL="463232" lvl="1" indent="-223520"/>
            <a:r>
              <a:rPr lang="en-US">
                <a:ea typeface="+mn-lt"/>
                <a:cs typeface="+mn-lt"/>
              </a:rPr>
              <a:t>Negatively, this larger profit margin could affect the amount of subsidies granted</a:t>
            </a:r>
          </a:p>
          <a:p>
            <a:pPr marL="223520" indent="-223520"/>
            <a:r>
              <a:rPr lang="en-US">
                <a:ea typeface="+mn-lt"/>
                <a:cs typeface="+mn-lt"/>
              </a:rPr>
              <a:t>Environmental: </a:t>
            </a:r>
          </a:p>
          <a:p>
            <a:pPr marL="463232" lvl="1" indent="-223520"/>
            <a:r>
              <a:rPr lang="en-US">
                <a:ea typeface="+mn-lt"/>
                <a:cs typeface="+mn-lt"/>
              </a:rPr>
              <a:t>Lower water usage for agriculture, lower pesticide use, lower fertilizer runoff into public water tables, increase agricultural yield through layering, allows agriculture in barren areas</a:t>
            </a:r>
          </a:p>
          <a:p>
            <a:pPr marL="463232" lvl="1" indent="-223520"/>
            <a:r>
              <a:rPr lang="en-US">
                <a:ea typeface="+mn-lt"/>
                <a:cs typeface="+mn-lt"/>
              </a:rPr>
              <a:t>Negative impacts would include trash from bad units; mitigations would include refurbishing units that went bad, stripping materials from bad units, and using safe e-waste methods</a:t>
            </a:r>
            <a:endParaRPr lang="en-US"/>
          </a:p>
          <a:p>
            <a:pPr marL="223520" indent="-223520"/>
            <a:endParaRPr lang="en-US"/>
          </a:p>
        </p:txBody>
      </p:sp>
    </p:spTree>
    <p:extLst>
      <p:ext uri="{BB962C8B-B14F-4D97-AF65-F5344CB8AC3E}">
        <p14:creationId xmlns:p14="http://schemas.microsoft.com/office/powerpoint/2010/main" val="423427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4F0BC-7533-4EC1-A4B8-019E68FED803}"/>
              </a:ext>
            </a:extLst>
          </p:cNvPr>
          <p:cNvSpPr>
            <a:spLocks noGrp="1"/>
          </p:cNvSpPr>
          <p:nvPr>
            <p:ph type="title"/>
          </p:nvPr>
        </p:nvSpPr>
        <p:spPr/>
        <p:txBody>
          <a:bodyPr/>
          <a:lstStyle/>
          <a:p>
            <a:r>
              <a:rPr lang="en-US"/>
              <a:t>Design Impact Cont. </a:t>
            </a:r>
          </a:p>
        </p:txBody>
      </p:sp>
      <p:sp>
        <p:nvSpPr>
          <p:cNvPr id="3" name="Content Placeholder 2">
            <a:extLst>
              <a:ext uri="{FF2B5EF4-FFF2-40B4-BE49-F238E27FC236}">
                <a16:creationId xmlns:a16="http://schemas.microsoft.com/office/drawing/2014/main" id="{C222817E-F262-4F4A-B9A2-F1E1A8FF3EB6}"/>
              </a:ext>
            </a:extLst>
          </p:cNvPr>
          <p:cNvSpPr>
            <a:spLocks noGrp="1"/>
          </p:cNvSpPr>
          <p:nvPr>
            <p:ph idx="1"/>
          </p:nvPr>
        </p:nvSpPr>
        <p:spPr/>
        <p:txBody>
          <a:bodyPr vert="horz" lIns="91440" tIns="45720" rIns="91440" bIns="45720" rtlCol="0" anchor="t">
            <a:normAutofit/>
          </a:bodyPr>
          <a:lstStyle/>
          <a:p>
            <a:pPr marL="223520" indent="-223520"/>
            <a:r>
              <a:rPr lang="en-US">
                <a:ea typeface="+mn-lt"/>
                <a:cs typeface="+mn-lt"/>
              </a:rPr>
              <a:t>Global: </a:t>
            </a:r>
          </a:p>
          <a:p>
            <a:pPr marL="462915" lvl="1" indent="-223520"/>
            <a:r>
              <a:rPr lang="en-US">
                <a:ea typeface="+mn-lt"/>
                <a:cs typeface="+mn-lt"/>
              </a:rPr>
              <a:t>Enough nutritious food, including some staple foods, for all the family year-round</a:t>
            </a:r>
          </a:p>
          <a:p>
            <a:pPr marL="462915" lvl="1" indent="-223520"/>
            <a:r>
              <a:rPr lang="en-US">
                <a:ea typeface="+mn-lt"/>
                <a:cs typeface="+mn-lt"/>
              </a:rPr>
              <a:t>This includes extra food stocks for processing and sale to obtain income, and a reserve for special occasions or emergencies </a:t>
            </a:r>
          </a:p>
          <a:p>
            <a:pPr marL="462915" lvl="1" indent="-223520"/>
            <a:r>
              <a:rPr lang="en-US">
                <a:ea typeface="+mn-lt"/>
                <a:cs typeface="+mn-lt"/>
              </a:rPr>
              <a:t>Sales from home garden produce can make a substantial contribution to a family's income</a:t>
            </a:r>
          </a:p>
          <a:p>
            <a:pPr marL="223520" indent="-223520"/>
            <a:r>
              <a:rPr lang="en-US">
                <a:ea typeface="+mn-lt"/>
                <a:cs typeface="+mn-lt"/>
              </a:rPr>
              <a:t>Public Health: </a:t>
            </a:r>
          </a:p>
          <a:p>
            <a:pPr marL="462915" lvl="1" indent="-223520"/>
            <a:r>
              <a:rPr lang="en-US">
                <a:ea typeface="+mn-lt"/>
                <a:cs typeface="+mn-lt"/>
              </a:rPr>
              <a:t>With aquaponic systems, there is less usage of pesticides in general population's diets</a:t>
            </a:r>
          </a:p>
          <a:p>
            <a:pPr marL="223520" indent="-223520"/>
            <a:endParaRPr lang="en-US">
              <a:ea typeface="+mn-lt"/>
              <a:cs typeface="+mn-lt"/>
            </a:endParaRPr>
          </a:p>
          <a:p>
            <a:pPr marL="223520" indent="-223520"/>
            <a:endParaRPr lang="en-US"/>
          </a:p>
          <a:p>
            <a:pPr marL="223520" indent="-223520"/>
            <a:endParaRPr lang="en-US"/>
          </a:p>
        </p:txBody>
      </p:sp>
    </p:spTree>
    <p:extLst>
      <p:ext uri="{BB962C8B-B14F-4D97-AF65-F5344CB8AC3E}">
        <p14:creationId xmlns:p14="http://schemas.microsoft.com/office/powerpoint/2010/main" val="1696537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C107B-A57F-4A54-83D1-90AAAA06C889}"/>
              </a:ext>
            </a:extLst>
          </p:cNvPr>
          <p:cNvSpPr>
            <a:spLocks noGrp="1"/>
          </p:cNvSpPr>
          <p:nvPr>
            <p:ph type="title"/>
          </p:nvPr>
        </p:nvSpPr>
        <p:spPr/>
        <p:txBody>
          <a:bodyPr/>
          <a:lstStyle/>
          <a:p>
            <a:r>
              <a:rPr lang="en-US"/>
              <a:t>Design Impact Cont.</a:t>
            </a:r>
          </a:p>
        </p:txBody>
      </p:sp>
      <p:sp>
        <p:nvSpPr>
          <p:cNvPr id="3" name="Content Placeholder 2">
            <a:extLst>
              <a:ext uri="{FF2B5EF4-FFF2-40B4-BE49-F238E27FC236}">
                <a16:creationId xmlns:a16="http://schemas.microsoft.com/office/drawing/2014/main" id="{BBD4C3D4-411C-4F66-9D73-5D32D441119C}"/>
              </a:ext>
            </a:extLst>
          </p:cNvPr>
          <p:cNvSpPr>
            <a:spLocks noGrp="1"/>
          </p:cNvSpPr>
          <p:nvPr>
            <p:ph idx="1"/>
          </p:nvPr>
        </p:nvSpPr>
        <p:spPr/>
        <p:txBody>
          <a:bodyPr vert="horz" lIns="91440" tIns="45720" rIns="91440" bIns="45720" rtlCol="0" anchor="t">
            <a:normAutofit fontScale="70000" lnSpcReduction="20000"/>
          </a:bodyPr>
          <a:lstStyle/>
          <a:p>
            <a:pPr marL="223520" indent="-223520"/>
            <a:r>
              <a:rPr lang="en-US">
                <a:ea typeface="+mn-lt"/>
                <a:cs typeface="+mn-lt"/>
              </a:rPr>
              <a:t>Public Safety: </a:t>
            </a:r>
          </a:p>
          <a:p>
            <a:pPr marL="463232" lvl="1" indent="-223520"/>
            <a:r>
              <a:rPr lang="en-US">
                <a:ea typeface="+mn-lt"/>
                <a:cs typeface="+mn-lt"/>
              </a:rPr>
              <a:t>No use of any toxic chemicals or fertilizers or pesticides </a:t>
            </a:r>
          </a:p>
          <a:p>
            <a:pPr marL="463232" lvl="1" indent="-223520"/>
            <a:r>
              <a:rPr lang="en-US">
                <a:ea typeface="+mn-lt"/>
                <a:cs typeface="+mn-lt"/>
              </a:rPr>
              <a:t>A negative impact on growth of the plants is the effect of insect pests; pesticides are not a practical answer in dealing with problems with insects in aquaponic environments</a:t>
            </a:r>
          </a:p>
          <a:p>
            <a:pPr marL="223520" indent="-223520"/>
            <a:r>
              <a:rPr lang="en-US">
                <a:ea typeface="+mn-lt"/>
                <a:cs typeface="+mn-lt"/>
              </a:rPr>
              <a:t>Public Welfare:  </a:t>
            </a:r>
          </a:p>
          <a:p>
            <a:pPr marL="463232" lvl="1" indent="-223520"/>
            <a:r>
              <a:rPr lang="en-US">
                <a:ea typeface="+mn-lt"/>
                <a:cs typeface="+mn-lt"/>
              </a:rPr>
              <a:t>With a moderate initial cost and a low upkeep cost, a household aquaponic system can reduce the cost, and increase the supply, of fresh produce to the individual</a:t>
            </a:r>
          </a:p>
          <a:p>
            <a:pPr marL="463232" lvl="1" indent="-223520"/>
            <a:r>
              <a:rPr lang="en-US">
                <a:ea typeface="+mn-lt"/>
                <a:cs typeface="+mn-lt"/>
              </a:rPr>
              <a:t>Negative impacts are potentially higher water and electricity utility costs per household</a:t>
            </a:r>
          </a:p>
          <a:p>
            <a:pPr marL="463232" lvl="1" indent="-223520"/>
            <a:r>
              <a:rPr lang="en-US">
                <a:ea typeface="+mn-lt"/>
                <a:cs typeface="+mn-lt"/>
              </a:rPr>
              <a:t>Potential mitigations are efficient scheduling suggestions can help reduce the power draw of the system</a:t>
            </a:r>
          </a:p>
          <a:p>
            <a:pPr marL="223520" indent="-223520"/>
            <a:r>
              <a:rPr lang="en-US">
                <a:ea typeface="+mn-lt"/>
                <a:cs typeface="+mn-lt"/>
              </a:rPr>
              <a:t>Social: </a:t>
            </a:r>
          </a:p>
          <a:p>
            <a:pPr marL="463232" lvl="1" indent="-223520"/>
            <a:r>
              <a:rPr lang="en-US">
                <a:ea typeface="+mn-lt"/>
                <a:cs typeface="+mn-lt"/>
              </a:rPr>
              <a:t>Inexpensive aquaponic systems can provide a more accessible and consistent source of healthy produce for the general public</a:t>
            </a:r>
          </a:p>
          <a:p>
            <a:pPr marL="463232" lvl="1" indent="-223520"/>
            <a:r>
              <a:rPr lang="en-US">
                <a:ea typeface="+mn-lt"/>
                <a:cs typeface="+mn-lt"/>
              </a:rPr>
              <a:t>Negative impacts are that widely available aquaponic systems could reduce the demand for local and/or organic produce, adversely affecting orchards and farms</a:t>
            </a:r>
          </a:p>
          <a:p>
            <a:pPr marL="463232" lvl="1" indent="-223520"/>
            <a:r>
              <a:rPr lang="en-US">
                <a:ea typeface="+mn-lt"/>
                <a:cs typeface="+mn-lt"/>
              </a:rPr>
              <a:t>Potential mitigations are farms could focus more heavily on produce that cannot be generated through aquaponics</a:t>
            </a:r>
          </a:p>
          <a:p>
            <a:pPr marL="223520" indent="-223520"/>
            <a:endParaRPr lang="en-US"/>
          </a:p>
        </p:txBody>
      </p:sp>
    </p:spTree>
    <p:extLst>
      <p:ext uri="{BB962C8B-B14F-4D97-AF65-F5344CB8AC3E}">
        <p14:creationId xmlns:p14="http://schemas.microsoft.com/office/powerpoint/2010/main" val="1526480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04DB-01F8-4F2D-8DCE-1EE6EC2390F3}"/>
              </a:ext>
            </a:extLst>
          </p:cNvPr>
          <p:cNvSpPr>
            <a:spLocks noGrp="1"/>
          </p:cNvSpPr>
          <p:nvPr>
            <p:ph type="title"/>
          </p:nvPr>
        </p:nvSpPr>
        <p:spPr/>
        <p:txBody>
          <a:bodyPr/>
          <a:lstStyle/>
          <a:p>
            <a:r>
              <a:rPr lang="en-US"/>
              <a:t>User Documentation</a:t>
            </a:r>
          </a:p>
        </p:txBody>
      </p:sp>
      <p:sp>
        <p:nvSpPr>
          <p:cNvPr id="3" name="Content Placeholder 2">
            <a:extLst>
              <a:ext uri="{FF2B5EF4-FFF2-40B4-BE49-F238E27FC236}">
                <a16:creationId xmlns:a16="http://schemas.microsoft.com/office/drawing/2014/main" id="{44C00F2C-E228-4FAB-A0E7-ECE69305BAD0}"/>
              </a:ext>
            </a:extLst>
          </p:cNvPr>
          <p:cNvSpPr>
            <a:spLocks noGrp="1"/>
          </p:cNvSpPr>
          <p:nvPr>
            <p:ph sz="half" idx="1"/>
          </p:nvPr>
        </p:nvSpPr>
        <p:spPr>
          <a:xfrm>
            <a:off x="1519154" y="2264434"/>
            <a:ext cx="4405226" cy="3755367"/>
          </a:xfrm>
        </p:spPr>
        <p:txBody>
          <a:bodyPr vert="horz" lIns="91440" tIns="45720" rIns="91440" bIns="45720" rtlCol="0" anchor="t">
            <a:normAutofit fontScale="77500" lnSpcReduction="20000"/>
          </a:bodyPr>
          <a:lstStyle/>
          <a:p>
            <a:pPr marL="223520" indent="-223520"/>
            <a:endParaRPr lang="en-US">
              <a:ea typeface="+mn-lt"/>
              <a:cs typeface="+mn-lt"/>
            </a:endParaRPr>
          </a:p>
          <a:p>
            <a:pPr marL="223520" indent="-223520"/>
            <a:r>
              <a:rPr lang="en-US">
                <a:ea typeface="+mn-lt"/>
                <a:cs typeface="+mn-lt"/>
              </a:rPr>
              <a:t>Explanation of aquaponic process, goals, and benefits</a:t>
            </a:r>
            <a:endParaRPr lang="en-US"/>
          </a:p>
          <a:p>
            <a:pPr marL="223520" indent="-223520"/>
            <a:r>
              <a:rPr lang="en-US">
                <a:ea typeface="+mn-lt"/>
                <a:cs typeface="+mn-lt"/>
              </a:rPr>
              <a:t>Safety warnings and safety standards</a:t>
            </a:r>
          </a:p>
          <a:p>
            <a:pPr marL="223520" indent="-223520"/>
            <a:r>
              <a:rPr lang="en-US">
                <a:ea typeface="+mn-lt"/>
                <a:cs typeface="+mn-lt"/>
              </a:rPr>
              <a:t>Parts list of all provided components</a:t>
            </a:r>
          </a:p>
          <a:p>
            <a:pPr marL="223520" indent="-223520"/>
            <a:r>
              <a:rPr lang="en-US">
                <a:ea typeface="+mn-lt"/>
                <a:cs typeface="+mn-lt"/>
              </a:rPr>
              <a:t>Parts list of suggested components for building the non-electrical system</a:t>
            </a:r>
          </a:p>
          <a:p>
            <a:pPr marL="223520" indent="-223520"/>
            <a:r>
              <a:rPr lang="en-US">
                <a:ea typeface="+mn-lt"/>
                <a:cs typeface="+mn-lt"/>
              </a:rPr>
              <a:t>Instructions on both building the provided system and its suggested use</a:t>
            </a:r>
          </a:p>
          <a:p>
            <a:pPr marL="223520" indent="-223520"/>
            <a:r>
              <a:rPr lang="en-US">
                <a:ea typeface="+mn-lt"/>
                <a:cs typeface="+mn-lt"/>
              </a:rPr>
              <a:t>Instructions on connecting the processor to a wireless network</a:t>
            </a:r>
            <a:endParaRPr lang="en-US"/>
          </a:p>
          <a:p>
            <a:pPr marL="223520" indent="-223520"/>
            <a:endParaRPr lang="en-US">
              <a:ea typeface="+mn-lt"/>
              <a:cs typeface="+mn-lt"/>
            </a:endParaRPr>
          </a:p>
        </p:txBody>
      </p:sp>
      <p:sp>
        <p:nvSpPr>
          <p:cNvPr id="4" name="Content Placeholder 3">
            <a:extLst>
              <a:ext uri="{FF2B5EF4-FFF2-40B4-BE49-F238E27FC236}">
                <a16:creationId xmlns:a16="http://schemas.microsoft.com/office/drawing/2014/main" id="{632E9C12-FEAC-45EF-8A79-4A12B321FB31}"/>
              </a:ext>
            </a:extLst>
          </p:cNvPr>
          <p:cNvSpPr>
            <a:spLocks noGrp="1"/>
          </p:cNvSpPr>
          <p:nvPr>
            <p:ph sz="half" idx="2"/>
          </p:nvPr>
        </p:nvSpPr>
        <p:spPr>
          <a:xfrm>
            <a:off x="6229183" y="2667001"/>
            <a:ext cx="4419600" cy="3352800"/>
          </a:xfrm>
        </p:spPr>
        <p:txBody>
          <a:bodyPr vert="horz" lIns="91440" tIns="45720" rIns="91440" bIns="45720" rtlCol="0" anchor="t">
            <a:normAutofit fontScale="77500" lnSpcReduction="20000"/>
          </a:bodyPr>
          <a:lstStyle/>
          <a:p>
            <a:pPr marL="223520" indent="-223520"/>
            <a:r>
              <a:rPr lang="en-US"/>
              <a:t>Instructions on access the built-in webpage and creating a user account</a:t>
            </a:r>
            <a:endParaRPr lang="en-US">
              <a:ea typeface="+mn-lt"/>
              <a:cs typeface="+mn-lt"/>
            </a:endParaRPr>
          </a:p>
          <a:p>
            <a:pPr marL="223520" indent="-223520"/>
            <a:r>
              <a:rPr lang="en-US"/>
              <a:t>Instructions on function and use of the webpage, including troubleshooting, type assignment, scheduling, and settings</a:t>
            </a:r>
            <a:endParaRPr lang="en-US">
              <a:ea typeface="+mn-lt"/>
              <a:cs typeface="+mn-lt"/>
            </a:endParaRPr>
          </a:p>
          <a:p>
            <a:pPr marL="223520" indent="-223520"/>
            <a:r>
              <a:rPr lang="en-US"/>
              <a:t>Examples of settings and their applications within the system</a:t>
            </a:r>
            <a:endParaRPr lang="en-US">
              <a:ea typeface="+mn-lt"/>
              <a:cs typeface="+mn-lt"/>
            </a:endParaRPr>
          </a:p>
          <a:p>
            <a:pPr marL="223520" indent="-223520"/>
            <a:r>
              <a:rPr lang="en-US"/>
              <a:t>Limited product guarantee</a:t>
            </a:r>
            <a:endParaRPr lang="en-US">
              <a:ea typeface="+mn-lt"/>
              <a:cs typeface="+mn-lt"/>
            </a:endParaRPr>
          </a:p>
          <a:p>
            <a:pPr marL="223520" indent="-223520"/>
            <a:r>
              <a:rPr lang="en-US"/>
              <a:t>Contact information for user support</a:t>
            </a:r>
          </a:p>
        </p:txBody>
      </p:sp>
      <p:sp>
        <p:nvSpPr>
          <p:cNvPr id="5" name="TextBox 4">
            <a:extLst>
              <a:ext uri="{FF2B5EF4-FFF2-40B4-BE49-F238E27FC236}">
                <a16:creationId xmlns:a16="http://schemas.microsoft.com/office/drawing/2014/main" id="{A46106F4-8F04-431D-B579-F4D85443743B}"/>
              </a:ext>
            </a:extLst>
          </p:cNvPr>
          <p:cNvSpPr txBox="1"/>
          <p:nvPr/>
        </p:nvSpPr>
        <p:spPr>
          <a:xfrm>
            <a:off x="1624571" y="1894782"/>
            <a:ext cx="82626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This product will be delivered with a paper instruction manual included. The instruction manual will be a packet, written in English, covering the following:</a:t>
            </a:r>
            <a:endParaRPr lang="en-US"/>
          </a:p>
        </p:txBody>
      </p:sp>
    </p:spTree>
    <p:extLst>
      <p:ext uri="{BB962C8B-B14F-4D97-AF65-F5344CB8AC3E}">
        <p14:creationId xmlns:p14="http://schemas.microsoft.com/office/powerpoint/2010/main" val="118639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92BF5-047C-4CE5-BA50-3B89401F9594}"/>
              </a:ext>
            </a:extLst>
          </p:cNvPr>
          <p:cNvSpPr>
            <a:spLocks noGrp="1"/>
          </p:cNvSpPr>
          <p:nvPr>
            <p:ph type="title"/>
          </p:nvPr>
        </p:nvSpPr>
        <p:spPr/>
        <p:txBody>
          <a:bodyPr/>
          <a:lstStyle/>
          <a:p>
            <a:r>
              <a:rPr lang="en-US"/>
              <a:t>Technical Approach</a:t>
            </a:r>
          </a:p>
        </p:txBody>
      </p:sp>
      <p:sp>
        <p:nvSpPr>
          <p:cNvPr id="3" name="Content Placeholder 2">
            <a:extLst>
              <a:ext uri="{FF2B5EF4-FFF2-40B4-BE49-F238E27FC236}">
                <a16:creationId xmlns:a16="http://schemas.microsoft.com/office/drawing/2014/main" id="{48466A54-E5F4-4D40-BCCA-A46F8B155614}"/>
              </a:ext>
            </a:extLst>
          </p:cNvPr>
          <p:cNvSpPr>
            <a:spLocks noGrp="1"/>
          </p:cNvSpPr>
          <p:nvPr>
            <p:ph idx="1"/>
          </p:nvPr>
        </p:nvSpPr>
        <p:spPr/>
        <p:txBody>
          <a:bodyPr vert="horz" lIns="91440" tIns="45720" rIns="91440" bIns="45720" rtlCol="0" anchor="t">
            <a:normAutofit fontScale="70000" lnSpcReduction="20000"/>
          </a:bodyPr>
          <a:lstStyle/>
          <a:p>
            <a:pPr marL="223520" indent="-223520"/>
            <a:r>
              <a:rPr lang="en-US">
                <a:ea typeface="+mn-lt"/>
                <a:cs typeface="+mn-lt"/>
              </a:rPr>
              <a:t>Hardware Decisions: </a:t>
            </a:r>
            <a:endParaRPr lang="en-US"/>
          </a:p>
          <a:p>
            <a:pPr lvl="1"/>
            <a:r>
              <a:rPr lang="en-US">
                <a:ea typeface="+mn-lt"/>
                <a:cs typeface="+mn-lt"/>
              </a:rPr>
              <a:t>Microcomputer:  Raspberry Pi Model 3 A+ was chosen due to its wireless capabilities and processing speed</a:t>
            </a:r>
          </a:p>
          <a:p>
            <a:pPr lvl="1"/>
            <a:r>
              <a:rPr lang="en-US">
                <a:ea typeface="+mn-lt"/>
                <a:cs typeface="+mn-lt"/>
              </a:rPr>
              <a:t>Water Sensors:  Adafruit and Seed sensors were chosen for their accuracy and ability to easy connect to the circuit board of the computer</a:t>
            </a:r>
          </a:p>
          <a:p>
            <a:pPr lvl="1"/>
            <a:r>
              <a:rPr lang="en-US">
                <a:ea typeface="+mn-lt"/>
                <a:cs typeface="+mn-lt"/>
              </a:rPr>
              <a:t>Relay Board: </a:t>
            </a:r>
            <a:r>
              <a:rPr lang="en-US" err="1">
                <a:ea typeface="+mn-lt"/>
                <a:cs typeface="+mn-lt"/>
              </a:rPr>
              <a:t>Elegoo</a:t>
            </a:r>
            <a:r>
              <a:rPr lang="en-US">
                <a:ea typeface="+mn-lt"/>
                <a:cs typeface="+mn-lt"/>
              </a:rPr>
              <a:t> relay board is the most cost-efficient and applicable component of the options for connecting the computer to the electrical sockets</a:t>
            </a:r>
          </a:p>
          <a:p>
            <a:pPr lvl="1"/>
            <a:r>
              <a:rPr lang="en-US">
                <a:ea typeface="+mn-lt"/>
                <a:cs typeface="+mn-lt"/>
              </a:rPr>
              <a:t>Electrical Sockets: Electrical sockets from Legrand fit the criteria best, based on the ability to modify the connection between individual sockets, and a significantly lower price</a:t>
            </a:r>
            <a:endParaRPr lang="en-US"/>
          </a:p>
          <a:p>
            <a:pPr marL="223520" indent="-223520"/>
            <a:endParaRPr lang="en-US">
              <a:ea typeface="+mn-lt"/>
              <a:cs typeface="+mn-lt"/>
            </a:endParaRPr>
          </a:p>
          <a:p>
            <a:pPr marL="223520" indent="-223520"/>
            <a:r>
              <a:rPr lang="en-US">
                <a:ea typeface="+mn-lt"/>
                <a:cs typeface="+mn-lt"/>
              </a:rPr>
              <a:t>Software Decisions:</a:t>
            </a:r>
          </a:p>
          <a:p>
            <a:pPr lvl="1"/>
            <a:r>
              <a:rPr lang="en-US">
                <a:ea typeface="+mn-lt"/>
                <a:cs typeface="+mn-lt"/>
              </a:rPr>
              <a:t>Database: SQLite was chosen because it does not require a server to function, it handles storing and retrieving blob data, and the license is in the public domain</a:t>
            </a:r>
          </a:p>
          <a:p>
            <a:pPr lvl="1"/>
            <a:r>
              <a:rPr lang="en-US">
                <a:ea typeface="+mn-lt"/>
                <a:cs typeface="+mn-lt"/>
              </a:rPr>
              <a:t>Backend: For writing the operational code, which must be able to access the computer, the SQL database, and the webpage, PHP was chosen</a:t>
            </a:r>
          </a:p>
          <a:p>
            <a:pPr lvl="1"/>
            <a:r>
              <a:rPr lang="en-US">
                <a:ea typeface="+mn-lt"/>
                <a:cs typeface="+mn-lt"/>
              </a:rPr>
              <a:t> Frontend: For user interface portion of the software, JavaScript was chosen to create a webpage in the minimal Nevada style</a:t>
            </a:r>
            <a:endParaRPr lang="en-US"/>
          </a:p>
        </p:txBody>
      </p:sp>
    </p:spTree>
    <p:extLst>
      <p:ext uri="{BB962C8B-B14F-4D97-AF65-F5344CB8AC3E}">
        <p14:creationId xmlns:p14="http://schemas.microsoft.com/office/powerpoint/2010/main" val="234714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7AE31-7640-4213-82B0-1ACD6A29E9C8}"/>
              </a:ext>
            </a:extLst>
          </p:cNvPr>
          <p:cNvSpPr>
            <a:spLocks noGrp="1"/>
          </p:cNvSpPr>
          <p:nvPr>
            <p:ph type="title"/>
          </p:nvPr>
        </p:nvSpPr>
        <p:spPr/>
        <p:txBody>
          <a:bodyPr/>
          <a:lstStyle/>
          <a:p>
            <a:r>
              <a:rPr lang="en-US"/>
              <a:t>Hardware</a:t>
            </a:r>
          </a:p>
        </p:txBody>
      </p:sp>
      <p:sp>
        <p:nvSpPr>
          <p:cNvPr id="3" name="Content Placeholder 2">
            <a:extLst>
              <a:ext uri="{FF2B5EF4-FFF2-40B4-BE49-F238E27FC236}">
                <a16:creationId xmlns:a16="http://schemas.microsoft.com/office/drawing/2014/main" id="{FDB4D131-F4E0-4BA2-8228-E376CBFC2CDF}"/>
              </a:ext>
            </a:extLst>
          </p:cNvPr>
          <p:cNvSpPr>
            <a:spLocks noGrp="1"/>
          </p:cNvSpPr>
          <p:nvPr>
            <p:ph idx="1"/>
          </p:nvPr>
        </p:nvSpPr>
        <p:spPr/>
        <p:txBody>
          <a:bodyPr vert="horz" lIns="91440" tIns="45720" rIns="91440" bIns="45720" rtlCol="0" anchor="t">
            <a:normAutofit fontScale="62500" lnSpcReduction="20000"/>
          </a:bodyPr>
          <a:lstStyle/>
          <a:p>
            <a:pPr marL="223520" indent="-223520"/>
            <a:r>
              <a:rPr lang="en-US"/>
              <a:t>Circuit Board/Single-Board Computer</a:t>
            </a:r>
          </a:p>
          <a:p>
            <a:pPr lvl="1"/>
            <a:r>
              <a:rPr lang="en-US">
                <a:ea typeface="+mn-lt"/>
                <a:cs typeface="+mn-lt"/>
              </a:rPr>
              <a:t>To allow for new feature that enable/use 5 GHZ wireless and increased speed, this design is using Raspberry Pi Model 3 A+, with Raspberry Pi Zero WH (Zero W with Headers) as the runner up due to price</a:t>
            </a:r>
            <a:endParaRPr lang="en-US"/>
          </a:p>
          <a:p>
            <a:pPr marL="223520" indent="-223520"/>
            <a:r>
              <a:rPr lang="en-US">
                <a:ea typeface="+mn-lt"/>
                <a:cs typeface="+mn-lt"/>
              </a:rPr>
              <a:t>Water Sensor: Temperature</a:t>
            </a:r>
          </a:p>
          <a:p>
            <a:pPr lvl="1"/>
            <a:r>
              <a:rPr lang="en-US">
                <a:ea typeface="+mn-lt"/>
                <a:cs typeface="+mn-lt"/>
              </a:rPr>
              <a:t>The DS18B20 Digital Temperature Sensor from Adafruit is the most fitting temperature sensor overall.  While it is not the least expensive, it does meet the requirements for integration with our Circuit Board and temperature range as specified in the Design Trades</a:t>
            </a:r>
          </a:p>
          <a:p>
            <a:pPr marL="223520" indent="-223520"/>
            <a:r>
              <a:rPr lang="en-US">
                <a:ea typeface="+mn-lt"/>
                <a:cs typeface="+mn-lt"/>
              </a:rPr>
              <a:t>Water Sensor: Water Level</a:t>
            </a:r>
          </a:p>
          <a:p>
            <a:pPr lvl="1"/>
            <a:r>
              <a:rPr lang="en-US">
                <a:ea typeface="+mn-lt"/>
                <a:cs typeface="+mn-lt"/>
              </a:rPr>
              <a:t>The Grove Water Level Sensor provides a cheap, accurate method of detecting the physical water level at any time. Unlike the float switch, which only senses 3 points (acceptable, high, low), it transmits constant data of the level relative to the sensor</a:t>
            </a:r>
          </a:p>
          <a:p>
            <a:pPr marL="223520" indent="-223520"/>
            <a:r>
              <a:rPr lang="en-US">
                <a:ea typeface="+mn-lt"/>
                <a:cs typeface="+mn-lt"/>
              </a:rPr>
              <a:t>Relay Board</a:t>
            </a:r>
          </a:p>
          <a:p>
            <a:pPr lvl="1"/>
            <a:r>
              <a:rPr lang="en-US">
                <a:ea typeface="+mn-lt"/>
                <a:cs typeface="+mn-lt"/>
              </a:rPr>
              <a:t>ELEGOO 8 Channel DC 5V Relay Module with Optocoupler, due to best fit with system design</a:t>
            </a:r>
          </a:p>
          <a:p>
            <a:pPr marL="223520" indent="-223520"/>
            <a:r>
              <a:rPr lang="en-US">
                <a:ea typeface="+mn-lt"/>
                <a:cs typeface="+mn-lt"/>
              </a:rPr>
              <a:t>Power Receptacles</a:t>
            </a:r>
          </a:p>
          <a:p>
            <a:pPr lvl="1"/>
            <a:r>
              <a:rPr lang="en-US">
                <a:ea typeface="+mn-lt"/>
                <a:cs typeface="+mn-lt"/>
              </a:rPr>
              <a:t>Legrand® </a:t>
            </a:r>
            <a:r>
              <a:rPr lang="en-US" err="1">
                <a:ea typeface="+mn-lt"/>
                <a:cs typeface="+mn-lt"/>
              </a:rPr>
              <a:t>TradeMaster</a:t>
            </a:r>
            <a:r>
              <a:rPr lang="en-US">
                <a:ea typeface="+mn-lt"/>
                <a:cs typeface="+mn-lt"/>
              </a:rPr>
              <a:t>® 15-Amp Light Almond Duplex Outlet 3232LACC30 due to price; we intend on getting 1 of the 15 Amp USB outlets to direct current to the raspberry pi</a:t>
            </a:r>
          </a:p>
          <a:p>
            <a:pPr lvl="1"/>
            <a:endParaRPr lang="en-US">
              <a:ea typeface="+mn-lt"/>
              <a:cs typeface="+mn-lt"/>
            </a:endParaRPr>
          </a:p>
          <a:p>
            <a:pPr marL="231775" lvl="1" indent="0">
              <a:buNone/>
            </a:pPr>
            <a:endParaRPr lang="en-US">
              <a:ea typeface="+mn-lt"/>
              <a:cs typeface="+mn-lt"/>
            </a:endParaRPr>
          </a:p>
        </p:txBody>
      </p:sp>
    </p:spTree>
    <p:extLst>
      <p:ext uri="{BB962C8B-B14F-4D97-AF65-F5344CB8AC3E}">
        <p14:creationId xmlns:p14="http://schemas.microsoft.com/office/powerpoint/2010/main" val="66265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1AD9-C190-42CD-A02F-5D9371EA7701}"/>
              </a:ext>
            </a:extLst>
          </p:cNvPr>
          <p:cNvSpPr>
            <a:spLocks noGrp="1"/>
          </p:cNvSpPr>
          <p:nvPr>
            <p:ph type="title"/>
          </p:nvPr>
        </p:nvSpPr>
        <p:spPr/>
        <p:txBody>
          <a:bodyPr/>
          <a:lstStyle/>
          <a:p>
            <a:r>
              <a:rPr lang="en-US"/>
              <a:t>Itemized List</a:t>
            </a:r>
          </a:p>
        </p:txBody>
      </p:sp>
      <p:sp>
        <p:nvSpPr>
          <p:cNvPr id="3" name="Content Placeholder 2">
            <a:extLst>
              <a:ext uri="{FF2B5EF4-FFF2-40B4-BE49-F238E27FC236}">
                <a16:creationId xmlns:a16="http://schemas.microsoft.com/office/drawing/2014/main" id="{A0C9EE3E-5564-4C77-88B9-120990B6222A}"/>
              </a:ext>
            </a:extLst>
          </p:cNvPr>
          <p:cNvSpPr>
            <a:spLocks noGrp="1"/>
          </p:cNvSpPr>
          <p:nvPr>
            <p:ph idx="1"/>
          </p:nvPr>
        </p:nvSpPr>
        <p:spPr/>
        <p:txBody>
          <a:bodyPr vert="horz" lIns="91440" tIns="45720" rIns="91440" bIns="45720" rtlCol="0" anchor="t">
            <a:normAutofit fontScale="62500" lnSpcReduction="20000"/>
          </a:bodyPr>
          <a:lstStyle/>
          <a:p>
            <a:pPr marL="223520" indent="-223520"/>
            <a:r>
              <a:rPr lang="en-US"/>
              <a:t>Raspberry Pi Model A 3+ will cost $25</a:t>
            </a:r>
          </a:p>
          <a:p>
            <a:pPr marL="223520" indent="-223520"/>
            <a:r>
              <a:rPr lang="en-US"/>
              <a:t>DS18B20 Digital Temperature Sensor – Adafruit will cost $9.95</a:t>
            </a:r>
          </a:p>
          <a:p>
            <a:pPr marL="223520" indent="-223520"/>
            <a:r>
              <a:rPr lang="en-US"/>
              <a:t>Grove Water Level Sensor – Seed will cost $6.95</a:t>
            </a:r>
          </a:p>
          <a:p>
            <a:pPr marL="223520" indent="-223520"/>
            <a:r>
              <a:rPr lang="en-US"/>
              <a:t>ELEGOO 8 Channel DC 5V Relay Module with Optocoupler will cost $10.99</a:t>
            </a:r>
          </a:p>
          <a:p>
            <a:pPr marL="223520" indent="-223520"/>
            <a:r>
              <a:rPr lang="en-US">
                <a:ea typeface="+mn-lt"/>
                <a:cs typeface="+mn-lt"/>
              </a:rPr>
              <a:t>Legrand® </a:t>
            </a:r>
            <a:r>
              <a:rPr lang="en-US" err="1">
                <a:ea typeface="+mn-lt"/>
                <a:cs typeface="+mn-lt"/>
              </a:rPr>
              <a:t>TradeMaster</a:t>
            </a:r>
            <a:r>
              <a:rPr lang="en-US">
                <a:ea typeface="+mn-lt"/>
                <a:cs typeface="+mn-lt"/>
              </a:rPr>
              <a:t>® 15-Amp Light Almond Duplex Outlet 3232LACC30 .43 cents individually x 4 will cost</a:t>
            </a:r>
            <a:r>
              <a:rPr lang="en-US"/>
              <a:t> $1.72</a:t>
            </a:r>
          </a:p>
          <a:p>
            <a:pPr marL="223520" indent="-223520"/>
            <a:r>
              <a:rPr lang="en-US"/>
              <a:t>3-inch PVC Pipe (36 feet) will cost $14.99 x 4 will cost $60 (prototype)</a:t>
            </a:r>
          </a:p>
          <a:p>
            <a:pPr marL="223520" indent="-223520"/>
            <a:r>
              <a:rPr lang="en-US"/>
              <a:t>Hub PVC Sewer and Drain Tee $3.78 individually x 6 will cost $22.68 </a:t>
            </a:r>
            <a:r>
              <a:rPr lang="en-US">
                <a:ea typeface="+mn-lt"/>
                <a:cs typeface="+mn-lt"/>
              </a:rPr>
              <a:t>(prototype)</a:t>
            </a:r>
          </a:p>
          <a:p>
            <a:pPr marL="223520" indent="-223520"/>
            <a:r>
              <a:rPr lang="en-US"/>
              <a:t>3-inch Hub Long Turn 90 Degree PVC Sewer and Drain Street Elbow $3.52 x 12 will cost $42.24 </a:t>
            </a:r>
            <a:r>
              <a:rPr lang="en-US">
                <a:ea typeface="+mn-lt"/>
                <a:cs typeface="+mn-lt"/>
              </a:rPr>
              <a:t>(prototype)</a:t>
            </a:r>
          </a:p>
          <a:p>
            <a:pPr marL="223520" indent="-223520"/>
            <a:r>
              <a:rPr lang="en-US"/>
              <a:t>PVC Vent Guard $3.55 individually x 3 will cost $</a:t>
            </a:r>
            <a:r>
              <a:rPr lang="en-US">
                <a:ea typeface="+mn-lt"/>
                <a:cs typeface="+mn-lt"/>
              </a:rPr>
              <a:t>10.65 (prototype)</a:t>
            </a:r>
          </a:p>
          <a:p>
            <a:pPr marL="223520" indent="-223520"/>
            <a:r>
              <a:rPr lang="en-US"/>
              <a:t>Total: $190.18 ($54.61 Automated Aquaponic PLC )  ($135.57 prototype)</a:t>
            </a:r>
          </a:p>
          <a:p>
            <a:pPr marL="223520" indent="-223520"/>
            <a:endParaRPr lang="en-US"/>
          </a:p>
        </p:txBody>
      </p:sp>
    </p:spTree>
    <p:extLst>
      <p:ext uri="{BB962C8B-B14F-4D97-AF65-F5344CB8AC3E}">
        <p14:creationId xmlns:p14="http://schemas.microsoft.com/office/powerpoint/2010/main" val="319017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F4B-14FC-488E-B77E-FB79FE8A9AE5}"/>
              </a:ext>
            </a:extLst>
          </p:cNvPr>
          <p:cNvSpPr>
            <a:spLocks noGrp="1"/>
          </p:cNvSpPr>
          <p:nvPr>
            <p:ph type="title"/>
          </p:nvPr>
        </p:nvSpPr>
        <p:spPr/>
        <p:txBody>
          <a:bodyPr/>
          <a:lstStyle/>
          <a:p>
            <a:r>
              <a:rPr lang="en-US"/>
              <a:t>Software</a:t>
            </a:r>
          </a:p>
        </p:txBody>
      </p:sp>
      <p:sp>
        <p:nvSpPr>
          <p:cNvPr id="3" name="Content Placeholder 2">
            <a:extLst>
              <a:ext uri="{FF2B5EF4-FFF2-40B4-BE49-F238E27FC236}">
                <a16:creationId xmlns:a16="http://schemas.microsoft.com/office/drawing/2014/main" id="{FBDF1B6D-1DB0-495A-8520-EFA2164282FA}"/>
              </a:ext>
            </a:extLst>
          </p:cNvPr>
          <p:cNvSpPr>
            <a:spLocks noGrp="1"/>
          </p:cNvSpPr>
          <p:nvPr>
            <p:ph idx="1"/>
          </p:nvPr>
        </p:nvSpPr>
        <p:spPr/>
        <p:txBody>
          <a:bodyPr vert="horz" lIns="91440" tIns="45720" rIns="91440" bIns="45720" rtlCol="0" anchor="t">
            <a:normAutofit fontScale="77500" lnSpcReduction="20000"/>
          </a:bodyPr>
          <a:lstStyle/>
          <a:p>
            <a:pPr marL="223520" indent="-223520"/>
            <a:r>
              <a:rPr lang="en-US"/>
              <a:t>Database</a:t>
            </a:r>
          </a:p>
          <a:p>
            <a:pPr lvl="1"/>
            <a:r>
              <a:rPr lang="en-US">
                <a:ea typeface="+mn-lt"/>
                <a:cs typeface="+mn-lt"/>
              </a:rPr>
              <a:t>SQLite is the optimal choice for this project. Although MariaDB meets many of the same requirements as SQLite, SQLite does not require a server to be running to access a database (database is instead stored in a file), allowing for quicker access and less processing power required. Additionally, SQLite is open-source and highly compatible with the Raspbian operating system</a:t>
            </a:r>
          </a:p>
          <a:p>
            <a:pPr marL="223520" indent="-223520"/>
            <a:r>
              <a:rPr lang="en-US"/>
              <a:t>Backend Programming Language</a:t>
            </a:r>
          </a:p>
          <a:p>
            <a:pPr lvl="1"/>
            <a:r>
              <a:rPr lang="en-US">
                <a:ea typeface="+mn-lt"/>
                <a:cs typeface="+mn-lt"/>
              </a:rPr>
              <a:t>PHP is the language of choice due to it being the only language that satisfied requirement 11, matching the structure of existing solutions to backend software </a:t>
            </a:r>
          </a:p>
          <a:p>
            <a:pPr marL="223520" indent="-223520"/>
            <a:r>
              <a:rPr lang="en-US"/>
              <a:t>Frontend Programming Language</a:t>
            </a:r>
          </a:p>
          <a:p>
            <a:pPr lvl="1"/>
            <a:r>
              <a:rPr lang="en-US">
                <a:ea typeface="+mn-lt"/>
                <a:cs typeface="+mn-lt"/>
              </a:rPr>
              <a:t>JavaScript does not meet requirement 32, however, due to limitations of PHP (i.e., client-side processing), JavaScript will be used</a:t>
            </a:r>
          </a:p>
          <a:p>
            <a:pPr marL="223520" indent="-223520"/>
            <a:r>
              <a:rPr lang="en-US"/>
              <a:t>User Interface</a:t>
            </a:r>
          </a:p>
          <a:p>
            <a:pPr lvl="1"/>
            <a:r>
              <a:rPr lang="en-US">
                <a:ea typeface="+mn-lt"/>
                <a:cs typeface="+mn-lt"/>
              </a:rPr>
              <a:t>Nevada: Minimal One-page HTML Template was the best choice since the time needed to implement the user interface was simple and easy along with it being able to simplify the user interface with the system functions and supports the design of the entire system as well as easy navigation</a:t>
            </a:r>
          </a:p>
        </p:txBody>
      </p:sp>
    </p:spTree>
    <p:extLst>
      <p:ext uri="{BB962C8B-B14F-4D97-AF65-F5344CB8AC3E}">
        <p14:creationId xmlns:p14="http://schemas.microsoft.com/office/powerpoint/2010/main" val="345935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32386-6277-427E-AD10-030FB719E728}"/>
              </a:ext>
            </a:extLst>
          </p:cNvPr>
          <p:cNvSpPr>
            <a:spLocks noGrp="1"/>
          </p:cNvSpPr>
          <p:nvPr>
            <p:ph type="title"/>
          </p:nvPr>
        </p:nvSpPr>
        <p:spPr/>
        <p:txBody>
          <a:bodyPr/>
          <a:lstStyle/>
          <a:p>
            <a:r>
              <a:rPr lang="en-US"/>
              <a:t>Tests and Evaluation</a:t>
            </a:r>
          </a:p>
        </p:txBody>
      </p:sp>
      <p:sp>
        <p:nvSpPr>
          <p:cNvPr id="3" name="Content Placeholder 2">
            <a:extLst>
              <a:ext uri="{FF2B5EF4-FFF2-40B4-BE49-F238E27FC236}">
                <a16:creationId xmlns:a16="http://schemas.microsoft.com/office/drawing/2014/main" id="{B01FC195-7BB1-44E7-B524-0B6A2B0F660D}"/>
              </a:ext>
            </a:extLst>
          </p:cNvPr>
          <p:cNvSpPr>
            <a:spLocks noGrp="1"/>
          </p:cNvSpPr>
          <p:nvPr>
            <p:ph idx="1"/>
          </p:nvPr>
        </p:nvSpPr>
        <p:spPr/>
        <p:txBody>
          <a:bodyPr vert="horz" lIns="91440" tIns="45720" rIns="91440" bIns="45720" rtlCol="0" anchor="t">
            <a:normAutofit fontScale="92500" lnSpcReduction="10000"/>
          </a:bodyPr>
          <a:lstStyle/>
          <a:p>
            <a:pPr marL="223520" indent="-223520"/>
            <a:r>
              <a:rPr lang="en-US"/>
              <a:t>Appropriate output of sockets will be tested under various conditions and states of the webpage</a:t>
            </a:r>
          </a:p>
          <a:p>
            <a:pPr marL="223520" indent="-223520"/>
            <a:r>
              <a:rPr lang="en-US"/>
              <a:t>Appropriate output of sockets will be tested under various water levels</a:t>
            </a:r>
          </a:p>
          <a:p>
            <a:pPr marL="223520" indent="-223520"/>
            <a:r>
              <a:rPr lang="en-US"/>
              <a:t>Web accessibility and persistence will be tested across multiple devices and browsers</a:t>
            </a:r>
          </a:p>
          <a:p>
            <a:pPr marL="223520" indent="-223520"/>
            <a:r>
              <a:rPr lang="en-US"/>
              <a:t>Database accuracy will be tested through direct and automated data insertion</a:t>
            </a:r>
          </a:p>
          <a:p>
            <a:pPr marL="223520" indent="-223520"/>
            <a:r>
              <a:rPr lang="en-US"/>
              <a:t>Proper appliance operation will be tested via visual confirmation</a:t>
            </a:r>
          </a:p>
          <a:p>
            <a:pPr marL="0" indent="0">
              <a:buNone/>
            </a:pPr>
            <a:r>
              <a:rPr lang="en-US"/>
              <a:t>	All tests will be performed at the site of construction at Wright State 	University, using tools available at the facility</a:t>
            </a:r>
          </a:p>
          <a:p>
            <a:pPr marL="223520" indent="-223520"/>
            <a:endParaRPr lang="en-US"/>
          </a:p>
        </p:txBody>
      </p:sp>
    </p:spTree>
    <p:extLst>
      <p:ext uri="{BB962C8B-B14F-4D97-AF65-F5344CB8AC3E}">
        <p14:creationId xmlns:p14="http://schemas.microsoft.com/office/powerpoint/2010/main" val="2955420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76A8E-0B0E-4CF5-B282-221B172D29FA}"/>
              </a:ext>
            </a:extLst>
          </p:cNvPr>
          <p:cNvSpPr>
            <a:spLocks noGrp="1"/>
          </p:cNvSpPr>
          <p:nvPr>
            <p:ph type="title"/>
          </p:nvPr>
        </p:nvSpPr>
        <p:spPr>
          <a:xfrm>
            <a:off x="1531058" y="69665"/>
            <a:ext cx="9126712" cy="697043"/>
          </a:xfrm>
        </p:spPr>
        <p:txBody>
          <a:bodyPr/>
          <a:lstStyle/>
          <a:p>
            <a:r>
              <a:rPr lang="en-US"/>
              <a:t>Critical Milestones</a:t>
            </a:r>
          </a:p>
        </p:txBody>
      </p:sp>
      <p:graphicFrame>
        <p:nvGraphicFramePr>
          <p:cNvPr id="5" name="Table 5">
            <a:extLst>
              <a:ext uri="{FF2B5EF4-FFF2-40B4-BE49-F238E27FC236}">
                <a16:creationId xmlns:a16="http://schemas.microsoft.com/office/drawing/2014/main" id="{9FA270A2-592D-4F3F-A8FA-AB194A1AC12A}"/>
              </a:ext>
            </a:extLst>
          </p:cNvPr>
          <p:cNvGraphicFramePr>
            <a:graphicFrameLocks noGrp="1"/>
          </p:cNvGraphicFramePr>
          <p:nvPr>
            <p:ph idx="1"/>
            <p:extLst>
              <p:ext uri="{D42A27DB-BD31-4B8C-83A1-F6EECF244321}">
                <p14:modId xmlns:p14="http://schemas.microsoft.com/office/powerpoint/2010/main" val="3947115960"/>
              </p:ext>
            </p:extLst>
          </p:nvPr>
        </p:nvGraphicFramePr>
        <p:xfrm>
          <a:off x="354426" y="769687"/>
          <a:ext cx="11311045" cy="5528587"/>
        </p:xfrm>
        <a:graphic>
          <a:graphicData uri="http://schemas.openxmlformats.org/drawingml/2006/table">
            <a:tbl>
              <a:tblPr firstRow="1" bandRow="1">
                <a:tableStyleId>{5C22544A-7EE6-4342-B048-85BDC9FD1C3A}</a:tableStyleId>
              </a:tblPr>
              <a:tblGrid>
                <a:gridCol w="7179152">
                  <a:extLst>
                    <a:ext uri="{9D8B030D-6E8A-4147-A177-3AD203B41FA5}">
                      <a16:colId xmlns:a16="http://schemas.microsoft.com/office/drawing/2014/main" val="1270772544"/>
                    </a:ext>
                  </a:extLst>
                </a:gridCol>
                <a:gridCol w="1975595">
                  <a:extLst>
                    <a:ext uri="{9D8B030D-6E8A-4147-A177-3AD203B41FA5}">
                      <a16:colId xmlns:a16="http://schemas.microsoft.com/office/drawing/2014/main" val="2345452058"/>
                    </a:ext>
                  </a:extLst>
                </a:gridCol>
                <a:gridCol w="2156298">
                  <a:extLst>
                    <a:ext uri="{9D8B030D-6E8A-4147-A177-3AD203B41FA5}">
                      <a16:colId xmlns:a16="http://schemas.microsoft.com/office/drawing/2014/main" val="1944258398"/>
                    </a:ext>
                  </a:extLst>
                </a:gridCol>
              </a:tblGrid>
              <a:tr h="655308">
                <a:tc>
                  <a:txBody>
                    <a:bodyPr/>
                    <a:lstStyle/>
                    <a:p>
                      <a:pPr marL="0" marR="0" lvl="0" indent="0" algn="l">
                        <a:lnSpc>
                          <a:spcPct val="90000"/>
                        </a:lnSpc>
                        <a:spcBef>
                          <a:spcPct val="0"/>
                        </a:spcBef>
                        <a:spcAft>
                          <a:spcPts val="0"/>
                        </a:spcAft>
                        <a:buNone/>
                      </a:pPr>
                      <a:r>
                        <a:rPr lang="en-US" sz="1800" b="0" i="0" u="none" strike="noStrike" noProof="0">
                          <a:latin typeface="Corbel"/>
                        </a:rPr>
                        <a:t>Critical Milestones</a:t>
                      </a:r>
                    </a:p>
                    <a:p>
                      <a:pPr lvl="0">
                        <a:buNone/>
                      </a:pPr>
                      <a:endParaRPr lang="en-US"/>
                    </a:p>
                  </a:txBody>
                  <a:tcPr/>
                </a:tc>
                <a:tc>
                  <a:txBody>
                    <a:bodyPr/>
                    <a:lstStyle/>
                    <a:p>
                      <a:r>
                        <a:rPr lang="en-US"/>
                        <a:t>Start by:</a:t>
                      </a:r>
                    </a:p>
                  </a:txBody>
                  <a:tcPr/>
                </a:tc>
                <a:tc>
                  <a:txBody>
                    <a:bodyPr/>
                    <a:lstStyle/>
                    <a:p>
                      <a:r>
                        <a:rPr lang="en-US"/>
                        <a:t>Done by:</a:t>
                      </a:r>
                    </a:p>
                  </a:txBody>
                  <a:tcPr/>
                </a:tc>
                <a:extLst>
                  <a:ext uri="{0D108BD9-81ED-4DB2-BD59-A6C34878D82A}">
                    <a16:rowId xmlns:a16="http://schemas.microsoft.com/office/drawing/2014/main" val="1829079597"/>
                  </a:ext>
                </a:extLst>
              </a:tr>
              <a:tr h="655308">
                <a:tc>
                  <a:txBody>
                    <a:bodyPr/>
                    <a:lstStyle/>
                    <a:p>
                      <a:pPr lvl="0">
                        <a:buNone/>
                      </a:pPr>
                      <a:r>
                        <a:rPr lang="en-US"/>
                        <a:t>Ordering and receiving parts</a:t>
                      </a:r>
                    </a:p>
                  </a:txBody>
                  <a:tcPr/>
                </a:tc>
                <a:tc>
                  <a:txBody>
                    <a:bodyPr/>
                    <a:lstStyle/>
                    <a:p>
                      <a:r>
                        <a:rPr lang="en-US"/>
                        <a:t>April 30, 2021</a:t>
                      </a:r>
                    </a:p>
                  </a:txBody>
                  <a:tcPr/>
                </a:tc>
                <a:tc>
                  <a:txBody>
                    <a:bodyPr/>
                    <a:lstStyle/>
                    <a:p>
                      <a:r>
                        <a:rPr lang="en-US"/>
                        <a:t>August 23, 2021</a:t>
                      </a:r>
                    </a:p>
                  </a:txBody>
                  <a:tcPr/>
                </a:tc>
                <a:extLst>
                  <a:ext uri="{0D108BD9-81ED-4DB2-BD59-A6C34878D82A}">
                    <a16:rowId xmlns:a16="http://schemas.microsoft.com/office/drawing/2014/main" val="2733124845"/>
                  </a:ext>
                </a:extLst>
              </a:tr>
              <a:tr h="913737">
                <a:tc>
                  <a:txBody>
                    <a:bodyPr/>
                    <a:lstStyle/>
                    <a:p>
                      <a:pPr marL="0" marR="0" lvl="0" indent="0" algn="l">
                        <a:lnSpc>
                          <a:spcPct val="90000"/>
                        </a:lnSpc>
                        <a:spcBef>
                          <a:spcPts val="1800"/>
                        </a:spcBef>
                        <a:spcAft>
                          <a:spcPts val="0"/>
                        </a:spcAft>
                        <a:buClr>
                          <a:srgbClr val="000000"/>
                        </a:buClr>
                        <a:buNone/>
                      </a:pPr>
                      <a:r>
                        <a:rPr lang="en-US" sz="1800" b="0" i="0" u="none" strike="noStrike" noProof="0">
                          <a:latin typeface="Corbel"/>
                        </a:rPr>
                        <a:t>Physical construction of PLC including power strip, outlets, and microprocessor</a:t>
                      </a:r>
                    </a:p>
                  </a:txBody>
                  <a:tcPr/>
                </a:tc>
                <a:tc>
                  <a:txBody>
                    <a:bodyPr/>
                    <a:lstStyle/>
                    <a:p>
                      <a:r>
                        <a:rPr lang="en-US"/>
                        <a:t>August 23, 2021</a:t>
                      </a:r>
                    </a:p>
                  </a:txBody>
                  <a:tcPr/>
                </a:tc>
                <a:tc>
                  <a:txBody>
                    <a:bodyPr/>
                    <a:lstStyle/>
                    <a:p>
                      <a:r>
                        <a:rPr lang="en-US"/>
                        <a:t>September 6, 2021</a:t>
                      </a:r>
                    </a:p>
                  </a:txBody>
                  <a:tcPr/>
                </a:tc>
                <a:extLst>
                  <a:ext uri="{0D108BD9-81ED-4DB2-BD59-A6C34878D82A}">
                    <a16:rowId xmlns:a16="http://schemas.microsoft.com/office/drawing/2014/main" val="836914520"/>
                  </a:ext>
                </a:extLst>
              </a:tr>
              <a:tr h="618389">
                <a:tc>
                  <a:txBody>
                    <a:bodyPr/>
                    <a:lstStyle/>
                    <a:p>
                      <a:pPr marL="0" marR="0" lvl="0" indent="0" algn="l">
                        <a:lnSpc>
                          <a:spcPct val="90000"/>
                        </a:lnSpc>
                        <a:spcBef>
                          <a:spcPts val="1800"/>
                        </a:spcBef>
                        <a:spcAft>
                          <a:spcPts val="0"/>
                        </a:spcAft>
                        <a:buNone/>
                      </a:pPr>
                      <a:r>
                        <a:rPr lang="en-US" sz="1800" b="0" i="0" u="none" strike="noStrike" noProof="0">
                          <a:latin typeface="Corbel"/>
                        </a:rPr>
                        <a:t>Construction of prototype system</a:t>
                      </a:r>
                      <a:endParaRPr lang="en-US"/>
                    </a:p>
                  </a:txBody>
                  <a:tcPr/>
                </a:tc>
                <a:tc>
                  <a:txBody>
                    <a:bodyPr/>
                    <a:lstStyle/>
                    <a:p>
                      <a:pPr lvl="0">
                        <a:buNone/>
                      </a:pPr>
                      <a:r>
                        <a:rPr lang="en-US" sz="1800" b="0" i="0" u="none" strike="noStrike" noProof="0">
                          <a:latin typeface="Corbel"/>
                        </a:rPr>
                        <a:t>August 30</a:t>
                      </a:r>
                      <a:r>
                        <a:rPr lang="en-US"/>
                        <a:t>, 2021</a:t>
                      </a:r>
                    </a:p>
                  </a:txBody>
                  <a:tcPr/>
                </a:tc>
                <a:tc>
                  <a:txBody>
                    <a:bodyPr/>
                    <a:lstStyle/>
                    <a:p>
                      <a:pPr lvl="0">
                        <a:buNone/>
                      </a:pPr>
                      <a:r>
                        <a:rPr lang="en-US" sz="1800" b="0" i="0" u="none" strike="noStrike" noProof="0">
                          <a:latin typeface="Corbel"/>
                        </a:rPr>
                        <a:t>September 6</a:t>
                      </a:r>
                      <a:r>
                        <a:rPr lang="en-US"/>
                        <a:t>, 2021</a:t>
                      </a:r>
                    </a:p>
                  </a:txBody>
                  <a:tcPr/>
                </a:tc>
                <a:extLst>
                  <a:ext uri="{0D108BD9-81ED-4DB2-BD59-A6C34878D82A}">
                    <a16:rowId xmlns:a16="http://schemas.microsoft.com/office/drawing/2014/main" val="2489562790"/>
                  </a:ext>
                </a:extLst>
              </a:tr>
              <a:tr h="886055">
                <a:tc>
                  <a:txBody>
                    <a:bodyPr/>
                    <a:lstStyle/>
                    <a:p>
                      <a:pPr marL="0" marR="0" lvl="0" indent="0" algn="l">
                        <a:lnSpc>
                          <a:spcPct val="90000"/>
                        </a:lnSpc>
                        <a:spcBef>
                          <a:spcPts val="1800"/>
                        </a:spcBef>
                        <a:spcAft>
                          <a:spcPts val="0"/>
                        </a:spcAft>
                        <a:buClr>
                          <a:srgbClr val="000000"/>
                        </a:buClr>
                        <a:buNone/>
                      </a:pPr>
                      <a:r>
                        <a:rPr lang="en-US" sz="1800" b="0" i="0" u="none" strike="noStrike" noProof="0">
                          <a:latin typeface="Corbel"/>
                        </a:rPr>
                        <a:t>Software development for functional webpage and demonstration of working user interface</a:t>
                      </a:r>
                    </a:p>
                  </a:txBody>
                  <a:tcPr/>
                </a:tc>
                <a:tc>
                  <a:txBody>
                    <a:bodyPr/>
                    <a:lstStyle/>
                    <a:p>
                      <a:r>
                        <a:rPr lang="en-US"/>
                        <a:t>August 30, 2021</a:t>
                      </a:r>
                    </a:p>
                  </a:txBody>
                  <a:tcPr/>
                </a:tc>
                <a:tc>
                  <a:txBody>
                    <a:bodyPr/>
                    <a:lstStyle/>
                    <a:p>
                      <a:r>
                        <a:rPr lang="en-US"/>
                        <a:t>October 11, 2021</a:t>
                      </a:r>
                    </a:p>
                  </a:txBody>
                  <a:tcPr/>
                </a:tc>
                <a:extLst>
                  <a:ext uri="{0D108BD9-81ED-4DB2-BD59-A6C34878D82A}">
                    <a16:rowId xmlns:a16="http://schemas.microsoft.com/office/drawing/2014/main" val="462429257"/>
                  </a:ext>
                </a:extLst>
              </a:tr>
              <a:tr h="987577">
                <a:tc>
                  <a:txBody>
                    <a:bodyPr/>
                    <a:lstStyle/>
                    <a:p>
                      <a:pPr lvl="0">
                        <a:buNone/>
                      </a:pPr>
                      <a:r>
                        <a:rPr lang="en-US" sz="1800" b="0" i="0" u="none" strike="noStrike" noProof="0">
                          <a:latin typeface="Corbel"/>
                        </a:rPr>
                        <a:t>Software development of backend and database, with demonstration of information exchange between user and system</a:t>
                      </a:r>
                      <a:endParaRPr lang="en-US"/>
                    </a:p>
                  </a:txBody>
                  <a:tcPr/>
                </a:tc>
                <a:tc>
                  <a:txBody>
                    <a:bodyPr/>
                    <a:lstStyle/>
                    <a:p>
                      <a:r>
                        <a:rPr lang="en-US"/>
                        <a:t>August 30, 2021</a:t>
                      </a:r>
                    </a:p>
                  </a:txBody>
                  <a:tcPr/>
                </a:tc>
                <a:tc>
                  <a:txBody>
                    <a:bodyPr/>
                    <a:lstStyle/>
                    <a:p>
                      <a:r>
                        <a:rPr lang="en-US"/>
                        <a:t>October 18, 2021</a:t>
                      </a:r>
                    </a:p>
                  </a:txBody>
                  <a:tcPr/>
                </a:tc>
                <a:extLst>
                  <a:ext uri="{0D108BD9-81ED-4DB2-BD59-A6C34878D82A}">
                    <a16:rowId xmlns:a16="http://schemas.microsoft.com/office/drawing/2014/main" val="1529667577"/>
                  </a:ext>
                </a:extLst>
              </a:tr>
              <a:tr h="812213">
                <a:tc>
                  <a:txBody>
                    <a:bodyPr/>
                    <a:lstStyle/>
                    <a:p>
                      <a:r>
                        <a:rPr lang="en-US"/>
                        <a:t>Complete testing and evaluations of all systems</a:t>
                      </a:r>
                    </a:p>
                  </a:txBody>
                  <a:tcPr/>
                </a:tc>
                <a:tc>
                  <a:txBody>
                    <a:bodyPr/>
                    <a:lstStyle/>
                    <a:p>
                      <a:r>
                        <a:rPr lang="en-US"/>
                        <a:t>October 18, 2021</a:t>
                      </a:r>
                    </a:p>
                  </a:txBody>
                  <a:tcPr/>
                </a:tc>
                <a:tc>
                  <a:txBody>
                    <a:bodyPr/>
                    <a:lstStyle/>
                    <a:p>
                      <a:r>
                        <a:rPr lang="en-US"/>
                        <a:t>November 14, 2021</a:t>
                      </a:r>
                    </a:p>
                  </a:txBody>
                  <a:tcPr/>
                </a:tc>
                <a:extLst>
                  <a:ext uri="{0D108BD9-81ED-4DB2-BD59-A6C34878D82A}">
                    <a16:rowId xmlns:a16="http://schemas.microsoft.com/office/drawing/2014/main" val="3668515141"/>
                  </a:ext>
                </a:extLst>
              </a:tr>
            </a:tbl>
          </a:graphicData>
        </a:graphic>
      </p:graphicFrame>
    </p:spTree>
    <p:extLst>
      <p:ext uri="{BB962C8B-B14F-4D97-AF65-F5344CB8AC3E}">
        <p14:creationId xmlns:p14="http://schemas.microsoft.com/office/powerpoint/2010/main" val="760781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3">
            <a:extLst>
              <a:ext uri="{FF2B5EF4-FFF2-40B4-BE49-F238E27FC236}">
                <a16:creationId xmlns:a16="http://schemas.microsoft.com/office/drawing/2014/main" id="{D86F104F-B3F2-48B6-888E-444AE44D7822}"/>
              </a:ext>
            </a:extLst>
          </p:cNvPr>
          <p:cNvGraphicFramePr>
            <a:graphicFrameLocks noGrp="1"/>
          </p:cNvGraphicFramePr>
          <p:nvPr>
            <p:ph idx="1"/>
            <p:extLst>
              <p:ext uri="{D42A27DB-BD31-4B8C-83A1-F6EECF244321}">
                <p14:modId xmlns:p14="http://schemas.microsoft.com/office/powerpoint/2010/main" val="2058660433"/>
              </p:ext>
            </p:extLst>
          </p:nvPr>
        </p:nvGraphicFramePr>
        <p:xfrm>
          <a:off x="443679" y="92685"/>
          <a:ext cx="11675287" cy="6669013"/>
        </p:xfrm>
        <a:graphic>
          <a:graphicData uri="http://schemas.openxmlformats.org/drawingml/2006/table">
            <a:tbl>
              <a:tblPr firstRow="1" firstCol="1" bandRow="1">
                <a:tableStyleId>{5C22544A-7EE6-4342-B048-85BDC9FD1C3A}</a:tableStyleId>
              </a:tblPr>
              <a:tblGrid>
                <a:gridCol w="1600993">
                  <a:extLst>
                    <a:ext uri="{9D8B030D-6E8A-4147-A177-3AD203B41FA5}">
                      <a16:colId xmlns:a16="http://schemas.microsoft.com/office/drawing/2014/main" val="3972650584"/>
                    </a:ext>
                  </a:extLst>
                </a:gridCol>
                <a:gridCol w="1332230">
                  <a:extLst>
                    <a:ext uri="{9D8B030D-6E8A-4147-A177-3AD203B41FA5}">
                      <a16:colId xmlns:a16="http://schemas.microsoft.com/office/drawing/2014/main" val="1770456952"/>
                    </a:ext>
                  </a:extLst>
                </a:gridCol>
                <a:gridCol w="541572">
                  <a:extLst>
                    <a:ext uri="{9D8B030D-6E8A-4147-A177-3AD203B41FA5}">
                      <a16:colId xmlns:a16="http://schemas.microsoft.com/office/drawing/2014/main" val="4100326062"/>
                    </a:ext>
                  </a:extLst>
                </a:gridCol>
                <a:gridCol w="541572">
                  <a:extLst>
                    <a:ext uri="{9D8B030D-6E8A-4147-A177-3AD203B41FA5}">
                      <a16:colId xmlns:a16="http://schemas.microsoft.com/office/drawing/2014/main" val="3291892182"/>
                    </a:ext>
                  </a:extLst>
                </a:gridCol>
                <a:gridCol w="541573">
                  <a:extLst>
                    <a:ext uri="{9D8B030D-6E8A-4147-A177-3AD203B41FA5}">
                      <a16:colId xmlns:a16="http://schemas.microsoft.com/office/drawing/2014/main" val="2579496693"/>
                    </a:ext>
                  </a:extLst>
                </a:gridCol>
                <a:gridCol w="541572">
                  <a:extLst>
                    <a:ext uri="{9D8B030D-6E8A-4147-A177-3AD203B41FA5}">
                      <a16:colId xmlns:a16="http://schemas.microsoft.com/office/drawing/2014/main" val="4000703687"/>
                    </a:ext>
                  </a:extLst>
                </a:gridCol>
                <a:gridCol w="541572">
                  <a:extLst>
                    <a:ext uri="{9D8B030D-6E8A-4147-A177-3AD203B41FA5}">
                      <a16:colId xmlns:a16="http://schemas.microsoft.com/office/drawing/2014/main" val="3505012920"/>
                    </a:ext>
                  </a:extLst>
                </a:gridCol>
                <a:gridCol w="541572">
                  <a:extLst>
                    <a:ext uri="{9D8B030D-6E8A-4147-A177-3AD203B41FA5}">
                      <a16:colId xmlns:a16="http://schemas.microsoft.com/office/drawing/2014/main" val="3051087474"/>
                    </a:ext>
                  </a:extLst>
                </a:gridCol>
                <a:gridCol w="541572">
                  <a:extLst>
                    <a:ext uri="{9D8B030D-6E8A-4147-A177-3AD203B41FA5}">
                      <a16:colId xmlns:a16="http://schemas.microsoft.com/office/drawing/2014/main" val="1435601684"/>
                    </a:ext>
                  </a:extLst>
                </a:gridCol>
                <a:gridCol w="541573">
                  <a:extLst>
                    <a:ext uri="{9D8B030D-6E8A-4147-A177-3AD203B41FA5}">
                      <a16:colId xmlns:a16="http://schemas.microsoft.com/office/drawing/2014/main" val="3386500942"/>
                    </a:ext>
                  </a:extLst>
                </a:gridCol>
                <a:gridCol w="541572">
                  <a:extLst>
                    <a:ext uri="{9D8B030D-6E8A-4147-A177-3AD203B41FA5}">
                      <a16:colId xmlns:a16="http://schemas.microsoft.com/office/drawing/2014/main" val="1136399726"/>
                    </a:ext>
                  </a:extLst>
                </a:gridCol>
                <a:gridCol w="652780">
                  <a:extLst>
                    <a:ext uri="{9D8B030D-6E8A-4147-A177-3AD203B41FA5}">
                      <a16:colId xmlns:a16="http://schemas.microsoft.com/office/drawing/2014/main" val="791320669"/>
                    </a:ext>
                  </a:extLst>
                </a:gridCol>
                <a:gridCol w="648018">
                  <a:extLst>
                    <a:ext uri="{9D8B030D-6E8A-4147-A177-3AD203B41FA5}">
                      <a16:colId xmlns:a16="http://schemas.microsoft.com/office/drawing/2014/main" val="3949083647"/>
                    </a:ext>
                  </a:extLst>
                </a:gridCol>
                <a:gridCol w="649605">
                  <a:extLst>
                    <a:ext uri="{9D8B030D-6E8A-4147-A177-3AD203B41FA5}">
                      <a16:colId xmlns:a16="http://schemas.microsoft.com/office/drawing/2014/main" val="168865371"/>
                    </a:ext>
                  </a:extLst>
                </a:gridCol>
                <a:gridCol w="643700">
                  <a:extLst>
                    <a:ext uri="{9D8B030D-6E8A-4147-A177-3AD203B41FA5}">
                      <a16:colId xmlns:a16="http://schemas.microsoft.com/office/drawing/2014/main" val="3488947154"/>
                    </a:ext>
                  </a:extLst>
                </a:gridCol>
                <a:gridCol w="654368">
                  <a:extLst>
                    <a:ext uri="{9D8B030D-6E8A-4147-A177-3AD203B41FA5}">
                      <a16:colId xmlns:a16="http://schemas.microsoft.com/office/drawing/2014/main" val="4286192227"/>
                    </a:ext>
                  </a:extLst>
                </a:gridCol>
                <a:gridCol w="619443">
                  <a:extLst>
                    <a:ext uri="{9D8B030D-6E8A-4147-A177-3AD203B41FA5}">
                      <a16:colId xmlns:a16="http://schemas.microsoft.com/office/drawing/2014/main" val="1887374593"/>
                    </a:ext>
                  </a:extLst>
                </a:gridCol>
              </a:tblGrid>
              <a:tr h="121098">
                <a:tc>
                  <a:txBody>
                    <a:bodyPr/>
                    <a:lstStyle/>
                    <a:p>
                      <a:r>
                        <a:rPr lang="en-US" sz="1000"/>
                        <a:t>Task</a:t>
                      </a:r>
                    </a:p>
                  </a:txBody>
                  <a:tcPr/>
                </a:tc>
                <a:tc>
                  <a:txBody>
                    <a:bodyPr/>
                    <a:lstStyle/>
                    <a:p>
                      <a:r>
                        <a:rPr lang="en-US" sz="1000"/>
                        <a:t>Assignee(s)</a:t>
                      </a:r>
                    </a:p>
                  </a:txBody>
                  <a:tcPr/>
                </a:tc>
                <a:tc>
                  <a:txBody>
                    <a:bodyPr/>
                    <a:lstStyle/>
                    <a:p>
                      <a:r>
                        <a:rPr lang="en-US" sz="1000"/>
                        <a:t>Wk1</a:t>
                      </a:r>
                    </a:p>
                  </a:txBody>
                  <a:tcPr/>
                </a:tc>
                <a:tc>
                  <a:txBody>
                    <a:bodyPr/>
                    <a:lstStyle/>
                    <a:p>
                      <a:r>
                        <a:rPr lang="en-US" sz="1000"/>
                        <a:t>Wk2</a:t>
                      </a:r>
                    </a:p>
                  </a:txBody>
                  <a:tcPr/>
                </a:tc>
                <a:tc>
                  <a:txBody>
                    <a:bodyPr/>
                    <a:lstStyle/>
                    <a:p>
                      <a:r>
                        <a:rPr lang="en-US" sz="1000"/>
                        <a:t>Wk3</a:t>
                      </a:r>
                    </a:p>
                  </a:txBody>
                  <a:tcPr/>
                </a:tc>
                <a:tc>
                  <a:txBody>
                    <a:bodyPr/>
                    <a:lstStyle/>
                    <a:p>
                      <a:r>
                        <a:rPr lang="en-US" sz="1000"/>
                        <a:t>Wk4</a:t>
                      </a:r>
                    </a:p>
                  </a:txBody>
                  <a:tcPr/>
                </a:tc>
                <a:tc>
                  <a:txBody>
                    <a:bodyPr/>
                    <a:lstStyle/>
                    <a:p>
                      <a:r>
                        <a:rPr lang="en-US" sz="1000"/>
                        <a:t>Wk5</a:t>
                      </a:r>
                    </a:p>
                  </a:txBody>
                  <a:tcPr/>
                </a:tc>
                <a:tc>
                  <a:txBody>
                    <a:bodyPr/>
                    <a:lstStyle/>
                    <a:p>
                      <a:r>
                        <a:rPr lang="en-US" sz="1000"/>
                        <a:t>Wk6</a:t>
                      </a:r>
                    </a:p>
                  </a:txBody>
                  <a:tcPr/>
                </a:tc>
                <a:tc>
                  <a:txBody>
                    <a:bodyPr/>
                    <a:lstStyle/>
                    <a:p>
                      <a:r>
                        <a:rPr lang="en-US" sz="1000"/>
                        <a:t>Wk7</a:t>
                      </a:r>
                    </a:p>
                  </a:txBody>
                  <a:tcPr/>
                </a:tc>
                <a:tc>
                  <a:txBody>
                    <a:bodyPr/>
                    <a:lstStyle/>
                    <a:p>
                      <a:r>
                        <a:rPr lang="en-US" sz="1000"/>
                        <a:t>Wk8</a:t>
                      </a:r>
                    </a:p>
                  </a:txBody>
                  <a:tcPr/>
                </a:tc>
                <a:tc>
                  <a:txBody>
                    <a:bodyPr/>
                    <a:lstStyle/>
                    <a:p>
                      <a:r>
                        <a:rPr lang="en-US" sz="1000"/>
                        <a:t>Wk9</a:t>
                      </a:r>
                    </a:p>
                  </a:txBody>
                  <a:tcPr/>
                </a:tc>
                <a:tc>
                  <a:txBody>
                    <a:bodyPr/>
                    <a:lstStyle/>
                    <a:p>
                      <a:r>
                        <a:rPr lang="en-US" sz="1000"/>
                        <a:t>Wk10</a:t>
                      </a:r>
                    </a:p>
                  </a:txBody>
                  <a:tcPr/>
                </a:tc>
                <a:tc>
                  <a:txBody>
                    <a:bodyPr/>
                    <a:lstStyle/>
                    <a:p>
                      <a:r>
                        <a:rPr lang="en-US" sz="1000"/>
                        <a:t>Wk11</a:t>
                      </a:r>
                    </a:p>
                  </a:txBody>
                  <a:tcPr/>
                </a:tc>
                <a:tc>
                  <a:txBody>
                    <a:bodyPr/>
                    <a:lstStyle/>
                    <a:p>
                      <a:r>
                        <a:rPr lang="en-US" sz="1000"/>
                        <a:t>Wk12</a:t>
                      </a:r>
                    </a:p>
                  </a:txBody>
                  <a:tcPr/>
                </a:tc>
                <a:tc>
                  <a:txBody>
                    <a:bodyPr/>
                    <a:lstStyle/>
                    <a:p>
                      <a:r>
                        <a:rPr lang="en-US" sz="1000"/>
                        <a:t>Wk13</a:t>
                      </a:r>
                    </a:p>
                  </a:txBody>
                  <a:tcPr/>
                </a:tc>
                <a:tc>
                  <a:txBody>
                    <a:bodyPr/>
                    <a:lstStyle/>
                    <a:p>
                      <a:r>
                        <a:rPr lang="en-US" sz="1000"/>
                        <a:t>Wk14</a:t>
                      </a:r>
                    </a:p>
                  </a:txBody>
                  <a:tcPr/>
                </a:tc>
                <a:tc>
                  <a:txBody>
                    <a:bodyPr/>
                    <a:lstStyle/>
                    <a:p>
                      <a:r>
                        <a:rPr lang="en-US" sz="1000"/>
                        <a:t>wk15</a:t>
                      </a:r>
                    </a:p>
                  </a:txBody>
                  <a:tcPr/>
                </a:tc>
                <a:extLst>
                  <a:ext uri="{0D108BD9-81ED-4DB2-BD59-A6C34878D82A}">
                    <a16:rowId xmlns:a16="http://schemas.microsoft.com/office/drawing/2014/main" val="3351638217"/>
                  </a:ext>
                </a:extLst>
              </a:tr>
              <a:tr h="384283">
                <a:tc>
                  <a:txBody>
                    <a:bodyPr/>
                    <a:lstStyle/>
                    <a:p>
                      <a:r>
                        <a:rPr lang="en-US" sz="1000"/>
                        <a:t>Combine Relay Board and Outlets</a:t>
                      </a:r>
                    </a:p>
                  </a:txBody>
                  <a:tcPr/>
                </a:tc>
                <a:tc>
                  <a:txBody>
                    <a:bodyPr/>
                    <a:lstStyle/>
                    <a:p>
                      <a:r>
                        <a:rPr lang="en-US" sz="1000"/>
                        <a:t>Derrick, Alex</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670086814"/>
                  </a:ext>
                </a:extLst>
              </a:tr>
              <a:tr h="384283">
                <a:tc>
                  <a:txBody>
                    <a:bodyPr/>
                    <a:lstStyle/>
                    <a:p>
                      <a:r>
                        <a:rPr lang="en-US" sz="1000"/>
                        <a:t>Assemble Microcontroller GPIO</a:t>
                      </a:r>
                    </a:p>
                  </a:txBody>
                  <a:tcPr/>
                </a:tc>
                <a:tc>
                  <a:txBody>
                    <a:bodyPr/>
                    <a:lstStyle/>
                    <a:p>
                      <a:r>
                        <a:rPr lang="en-US" sz="1000"/>
                        <a:t>Chalmer, Charles</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519322217"/>
                  </a:ext>
                </a:extLst>
              </a:tr>
              <a:tr h="384283">
                <a:tc>
                  <a:txBody>
                    <a:bodyPr/>
                    <a:lstStyle/>
                    <a:p>
                      <a:r>
                        <a:rPr lang="en-US" sz="1000"/>
                        <a:t>Construct Grow Beds, including PVC </a:t>
                      </a:r>
                    </a:p>
                  </a:txBody>
                  <a:tcPr/>
                </a:tc>
                <a:tc>
                  <a:txBody>
                    <a:bodyPr/>
                    <a:lstStyle/>
                    <a:p>
                      <a:r>
                        <a:rPr lang="en-US" sz="1000"/>
                        <a:t>Derrick, Chalmer</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752650226"/>
                  </a:ext>
                </a:extLst>
              </a:tr>
              <a:tr h="384283">
                <a:tc>
                  <a:txBody>
                    <a:bodyPr/>
                    <a:lstStyle/>
                    <a:p>
                      <a:r>
                        <a:rPr lang="en-US" sz="1000"/>
                        <a:t>Structure Grow Beds onto Livestock Tanks</a:t>
                      </a:r>
                    </a:p>
                  </a:txBody>
                  <a:tcPr/>
                </a:tc>
                <a:tc>
                  <a:txBody>
                    <a:bodyPr/>
                    <a:lstStyle/>
                    <a:p>
                      <a:r>
                        <a:rPr lang="en-US" sz="1000"/>
                        <a:t>Derrick, Alex, Charles</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509831094"/>
                  </a:ext>
                </a:extLst>
              </a:tr>
              <a:tr h="384283">
                <a:tc>
                  <a:txBody>
                    <a:bodyPr/>
                    <a:lstStyle/>
                    <a:p>
                      <a:r>
                        <a:rPr lang="en-US" sz="1000"/>
                        <a:t>Build Webpage Layout</a:t>
                      </a:r>
                    </a:p>
                  </a:txBody>
                  <a:tcPr/>
                </a:tc>
                <a:tc>
                  <a:txBody>
                    <a:bodyPr/>
                    <a:lstStyle/>
                    <a:p>
                      <a:r>
                        <a:rPr lang="en-US" sz="1000"/>
                        <a:t>Charles, Alex</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779346383"/>
                  </a:ext>
                </a:extLst>
              </a:tr>
              <a:tr h="384283">
                <a:tc>
                  <a:txBody>
                    <a:bodyPr/>
                    <a:lstStyle/>
                    <a:p>
                      <a:pPr lvl="0">
                        <a:buNone/>
                      </a:pPr>
                      <a:r>
                        <a:rPr lang="en-US" sz="1000" b="1" i="0" u="none" strike="noStrike" noProof="0">
                          <a:latin typeface="Corbel"/>
                        </a:rPr>
                        <a:t>Build </a:t>
                      </a:r>
                      <a:r>
                        <a:rPr lang="en-US" sz="1000"/>
                        <a:t>Webpage Forms</a:t>
                      </a:r>
                    </a:p>
                  </a:txBody>
                  <a:tcPr/>
                </a:tc>
                <a:tc>
                  <a:txBody>
                    <a:bodyPr/>
                    <a:lstStyle/>
                    <a:p>
                      <a:r>
                        <a:rPr lang="en-US" sz="1000"/>
                        <a:t>Charles, Alex</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4013106355"/>
                  </a:ext>
                </a:extLst>
              </a:tr>
              <a:tr h="299152">
                <a:tc>
                  <a:txBody>
                    <a:bodyPr/>
                    <a:lstStyle/>
                    <a:p>
                      <a:pPr lvl="0">
                        <a:buNone/>
                      </a:pPr>
                      <a:r>
                        <a:rPr lang="en-US" sz="1000" b="1" i="0" u="none" strike="noStrike" noProof="0">
                          <a:latin typeface="Corbel"/>
                        </a:rPr>
                        <a:t>Build </a:t>
                      </a:r>
                      <a:r>
                        <a:rPr lang="en-US" sz="1000"/>
                        <a:t>User Login</a:t>
                      </a:r>
                    </a:p>
                  </a:txBody>
                  <a:tcPr/>
                </a:tc>
                <a:tc>
                  <a:txBody>
                    <a:bodyPr/>
                    <a:lstStyle/>
                    <a:p>
                      <a:r>
                        <a:rPr lang="en-US" sz="1000"/>
                        <a:t>Charles, Alex</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623255009"/>
                  </a:ext>
                </a:extLst>
              </a:tr>
              <a:tr h="295535">
                <a:tc>
                  <a:txBody>
                    <a:bodyPr/>
                    <a:lstStyle/>
                    <a:p>
                      <a:r>
                        <a:rPr lang="en-US" sz="1000"/>
                        <a:t>Install Apache Server</a:t>
                      </a:r>
                    </a:p>
                  </a:txBody>
                  <a:tcPr/>
                </a:tc>
                <a:tc>
                  <a:txBody>
                    <a:bodyPr/>
                    <a:lstStyle/>
                    <a:p>
                      <a:r>
                        <a:rPr lang="en-US" sz="1000"/>
                        <a:t>Derrick, Chalmer</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691397548"/>
                  </a:ext>
                </a:extLst>
              </a:tr>
              <a:tr h="299152">
                <a:tc>
                  <a:txBody>
                    <a:bodyPr/>
                    <a:lstStyle/>
                    <a:p>
                      <a:pPr lvl="0">
                        <a:buNone/>
                      </a:pPr>
                      <a:r>
                        <a:rPr lang="en-US" sz="1000" b="1" i="0" u="none" strike="noStrike" noProof="0">
                          <a:latin typeface="Corbel"/>
                        </a:rPr>
                        <a:t>Build </a:t>
                      </a:r>
                      <a:r>
                        <a:rPr lang="en-US" sz="1000"/>
                        <a:t>SQLite Database</a:t>
                      </a:r>
                    </a:p>
                  </a:txBody>
                  <a:tcPr/>
                </a:tc>
                <a:tc>
                  <a:txBody>
                    <a:bodyPr/>
                    <a:lstStyle/>
                    <a:p>
                      <a:r>
                        <a:rPr lang="en-US" sz="1000"/>
                        <a:t>Derrick, Chalmer</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831381985"/>
                  </a:ext>
                </a:extLst>
              </a:tr>
              <a:tr h="299152">
                <a:tc>
                  <a:txBody>
                    <a:bodyPr/>
                    <a:lstStyle/>
                    <a:p>
                      <a:r>
                        <a:rPr lang="en-US" sz="1000"/>
                        <a:t>Interface PHP and JavaScript</a:t>
                      </a:r>
                    </a:p>
                  </a:txBody>
                  <a:tcPr/>
                </a:tc>
                <a:tc>
                  <a:txBody>
                    <a:bodyPr/>
                    <a:lstStyle/>
                    <a:p>
                      <a:r>
                        <a:rPr lang="en-US" sz="1000"/>
                        <a:t>Derrick, Charles</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979356990"/>
                  </a:ext>
                </a:extLst>
              </a:tr>
              <a:tr h="299152">
                <a:tc>
                  <a:txBody>
                    <a:bodyPr/>
                    <a:lstStyle/>
                    <a:p>
                      <a:r>
                        <a:rPr lang="en-US" sz="1000"/>
                        <a:t>Build GPIO Library</a:t>
                      </a:r>
                    </a:p>
                  </a:txBody>
                  <a:tcPr/>
                </a:tc>
                <a:tc>
                  <a:txBody>
                    <a:bodyPr/>
                    <a:lstStyle/>
                    <a:p>
                      <a:r>
                        <a:rPr lang="en-US" sz="1000"/>
                        <a:t>Alex, Chalmer</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601622659"/>
                  </a:ext>
                </a:extLst>
              </a:tr>
              <a:tr h="299152">
                <a:tc>
                  <a:txBody>
                    <a:bodyPr/>
                    <a:lstStyle/>
                    <a:p>
                      <a:pPr lvl="0">
                        <a:buNone/>
                      </a:pPr>
                      <a:r>
                        <a:rPr lang="en-US" sz="1000" b="1" i="0" u="none" strike="noStrike" noProof="0">
                          <a:latin typeface="Corbel"/>
                        </a:rPr>
                        <a:t>Build </a:t>
                      </a:r>
                      <a:r>
                        <a:rPr lang="en-US" sz="1000"/>
                        <a:t>Database Operations</a:t>
                      </a:r>
                    </a:p>
                  </a:txBody>
                  <a:tcPr/>
                </a:tc>
                <a:tc>
                  <a:txBody>
                    <a:bodyPr/>
                    <a:lstStyle/>
                    <a:p>
                      <a:r>
                        <a:rPr lang="en-US" sz="1000"/>
                        <a:t>Alex, Chalmer, Derrick</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476353613"/>
                  </a:ext>
                </a:extLst>
              </a:tr>
              <a:tr h="299152">
                <a:tc>
                  <a:txBody>
                    <a:bodyPr/>
                    <a:lstStyle/>
                    <a:p>
                      <a:r>
                        <a:rPr lang="en-US" sz="1000"/>
                        <a:t>Manage Error Handling</a:t>
                      </a:r>
                    </a:p>
                  </a:txBody>
                  <a:tcPr/>
                </a:tc>
                <a:tc>
                  <a:txBody>
                    <a:bodyPr/>
                    <a:lstStyle/>
                    <a:p>
                      <a:r>
                        <a:rPr lang="en-US" sz="1000"/>
                        <a:t>Alex</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360110066"/>
                  </a:ext>
                </a:extLst>
              </a:tr>
              <a:tr h="299152">
                <a:tc>
                  <a:txBody>
                    <a:bodyPr/>
                    <a:lstStyle/>
                    <a:p>
                      <a:pPr lvl="0">
                        <a:buNone/>
                      </a:pPr>
                      <a:r>
                        <a:rPr lang="en-US" sz="1000" b="1" i="0" u="none" strike="noStrike" noProof="0">
                          <a:latin typeface="Corbel"/>
                        </a:rPr>
                        <a:t>Build </a:t>
                      </a:r>
                      <a:r>
                        <a:rPr lang="en-US" sz="1000"/>
                        <a:t>Webpage Event Handling</a:t>
                      </a:r>
                    </a:p>
                  </a:txBody>
                  <a:tcPr/>
                </a:tc>
                <a:tc>
                  <a:txBody>
                    <a:bodyPr/>
                    <a:lstStyle/>
                    <a:p>
                      <a:r>
                        <a:rPr lang="en-US" sz="1000"/>
                        <a:t>Chalmer, Alex, Derrick</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391584428"/>
                  </a:ext>
                </a:extLst>
              </a:tr>
              <a:tr h="299152">
                <a:tc>
                  <a:txBody>
                    <a:bodyPr/>
                    <a:lstStyle/>
                    <a:p>
                      <a:r>
                        <a:rPr lang="en-US" sz="1000"/>
                        <a:t>Test Webpage Interactions</a:t>
                      </a:r>
                    </a:p>
                  </a:txBody>
                  <a:tcPr/>
                </a:tc>
                <a:tc>
                  <a:txBody>
                    <a:bodyPr/>
                    <a:lstStyle/>
                    <a:p>
                      <a:r>
                        <a:rPr lang="en-US" sz="1000"/>
                        <a:t>Charles, Chalmer</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885609682"/>
                  </a:ext>
                </a:extLst>
              </a:tr>
              <a:tr h="299152">
                <a:tc>
                  <a:txBody>
                    <a:bodyPr/>
                    <a:lstStyle/>
                    <a:p>
                      <a:r>
                        <a:rPr lang="en-US" sz="1000"/>
                        <a:t>Test Event Handling</a:t>
                      </a:r>
                    </a:p>
                  </a:txBody>
                  <a:tcPr/>
                </a:tc>
                <a:tc>
                  <a:txBody>
                    <a:bodyPr/>
                    <a:lstStyle/>
                    <a:p>
                      <a:r>
                        <a:rPr lang="en-US" sz="1000"/>
                        <a:t>Alex, Derrick</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3772607174"/>
                  </a:ext>
                </a:extLst>
              </a:tr>
              <a:tr h="299152">
                <a:tc>
                  <a:txBody>
                    <a:bodyPr/>
                    <a:lstStyle/>
                    <a:p>
                      <a:r>
                        <a:rPr lang="en-US" sz="1000"/>
                        <a:t>Test Database Function</a:t>
                      </a:r>
                    </a:p>
                  </a:txBody>
                  <a:tcPr/>
                </a:tc>
                <a:tc>
                  <a:txBody>
                    <a:bodyPr/>
                    <a:lstStyle/>
                    <a:p>
                      <a:r>
                        <a:rPr lang="en-US" sz="1000"/>
                        <a:t>Alex, Derrick</a:t>
                      </a:r>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922404932"/>
                  </a:ext>
                </a:extLst>
              </a:tr>
              <a:tr h="299152">
                <a:tc>
                  <a:txBody>
                    <a:bodyPr/>
                    <a:lstStyle/>
                    <a:p>
                      <a:r>
                        <a:rPr lang="en-US" sz="1000"/>
                        <a:t>Combine PLC and Prototype</a:t>
                      </a:r>
                    </a:p>
                  </a:txBody>
                  <a:tcPr/>
                </a:tc>
                <a:tc>
                  <a:txBody>
                    <a:bodyPr/>
                    <a:lstStyle/>
                    <a:p>
                      <a:r>
                        <a:rPr lang="en-US" sz="1000"/>
                        <a:t>All</a:t>
                      </a:r>
                    </a:p>
                  </a:txBody>
                  <a:tcPr/>
                </a:tc>
                <a:tc>
                  <a:txBody>
                    <a:bodyPr/>
                    <a:lstStyle/>
                    <a:p>
                      <a:endParaRPr lang="en-US" sz="1000"/>
                    </a:p>
                  </a:txBody>
                  <a:tcPr/>
                </a:tc>
                <a:tc>
                  <a:txBody>
                    <a:bodyPr/>
                    <a:lstStyle/>
                    <a:p>
                      <a:endParaRPr lang="en-US" sz="1000"/>
                    </a:p>
                  </a:txBody>
                  <a:tcPr/>
                </a:tc>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1804722500"/>
                  </a:ext>
                </a:extLst>
              </a:tr>
            </a:tbl>
          </a:graphicData>
        </a:graphic>
      </p:graphicFrame>
      <p:sp>
        <p:nvSpPr>
          <p:cNvPr id="14" name="Rectangle 13">
            <a:extLst>
              <a:ext uri="{FF2B5EF4-FFF2-40B4-BE49-F238E27FC236}">
                <a16:creationId xmlns:a16="http://schemas.microsoft.com/office/drawing/2014/main" id="{CF64288A-4231-4953-B683-0EBC35EA83DD}"/>
              </a:ext>
            </a:extLst>
          </p:cNvPr>
          <p:cNvSpPr/>
          <p:nvPr/>
        </p:nvSpPr>
        <p:spPr>
          <a:xfrm>
            <a:off x="3397872" y="348062"/>
            <a:ext cx="485015" cy="31959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1089CAF-0453-40AE-B47C-74A92C288069}"/>
              </a:ext>
            </a:extLst>
          </p:cNvPr>
          <p:cNvSpPr/>
          <p:nvPr/>
        </p:nvSpPr>
        <p:spPr>
          <a:xfrm>
            <a:off x="3397872" y="763237"/>
            <a:ext cx="485015" cy="31959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96E1693-986F-435E-8D23-E3742D930DE0}"/>
              </a:ext>
            </a:extLst>
          </p:cNvPr>
          <p:cNvSpPr/>
          <p:nvPr/>
        </p:nvSpPr>
        <p:spPr>
          <a:xfrm>
            <a:off x="3959440" y="1178412"/>
            <a:ext cx="485015" cy="28165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8CC681F-CCE1-49B9-9F1E-9FA9D2BC728B}"/>
              </a:ext>
            </a:extLst>
          </p:cNvPr>
          <p:cNvSpPr/>
          <p:nvPr/>
        </p:nvSpPr>
        <p:spPr>
          <a:xfrm>
            <a:off x="3959441" y="1554433"/>
            <a:ext cx="485015" cy="320808"/>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78768F5-4523-4D40-AEFF-B79F22A0064D}"/>
              </a:ext>
            </a:extLst>
          </p:cNvPr>
          <p:cNvSpPr/>
          <p:nvPr/>
        </p:nvSpPr>
        <p:spPr>
          <a:xfrm>
            <a:off x="3959440" y="1969608"/>
            <a:ext cx="1553594" cy="28165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61657B8-423C-45C0-90D8-AA8C0B460793}"/>
              </a:ext>
            </a:extLst>
          </p:cNvPr>
          <p:cNvSpPr/>
          <p:nvPr/>
        </p:nvSpPr>
        <p:spPr>
          <a:xfrm>
            <a:off x="3959440" y="3285963"/>
            <a:ext cx="1553594" cy="28165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598C9D7-3838-4AFA-97A6-F547FCCADD21}"/>
              </a:ext>
            </a:extLst>
          </p:cNvPr>
          <p:cNvSpPr/>
          <p:nvPr/>
        </p:nvSpPr>
        <p:spPr>
          <a:xfrm>
            <a:off x="7733929" y="5406746"/>
            <a:ext cx="1553594" cy="31959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FBE852E-05D7-481D-944D-BE3C788772B0}"/>
              </a:ext>
            </a:extLst>
          </p:cNvPr>
          <p:cNvSpPr/>
          <p:nvPr/>
        </p:nvSpPr>
        <p:spPr>
          <a:xfrm>
            <a:off x="5008485" y="2341235"/>
            <a:ext cx="1553594" cy="31959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CE82D02-E936-4D9D-947A-6AC422D55CCD}"/>
              </a:ext>
            </a:extLst>
          </p:cNvPr>
          <p:cNvSpPr/>
          <p:nvPr/>
        </p:nvSpPr>
        <p:spPr>
          <a:xfrm>
            <a:off x="3959440" y="2990994"/>
            <a:ext cx="1049046" cy="26858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884A794-FA8C-4D54-B1FA-37A1AA39962B}"/>
              </a:ext>
            </a:extLst>
          </p:cNvPr>
          <p:cNvSpPr/>
          <p:nvPr/>
        </p:nvSpPr>
        <p:spPr>
          <a:xfrm>
            <a:off x="5008485" y="3605559"/>
            <a:ext cx="1010575" cy="319596"/>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D25B93-0726-4ABD-8A0E-C0F0B4E9FE98}"/>
              </a:ext>
            </a:extLst>
          </p:cNvPr>
          <p:cNvSpPr/>
          <p:nvPr/>
        </p:nvSpPr>
        <p:spPr>
          <a:xfrm>
            <a:off x="5585531" y="3995319"/>
            <a:ext cx="2059621" cy="2463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579CD82-53BC-4D12-A3C0-4B9F440E68C2}"/>
              </a:ext>
            </a:extLst>
          </p:cNvPr>
          <p:cNvSpPr/>
          <p:nvPr/>
        </p:nvSpPr>
        <p:spPr>
          <a:xfrm>
            <a:off x="5551504" y="2711847"/>
            <a:ext cx="1553594" cy="26858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015C4C6-F13C-4B0F-A108-A17A46265A9E}"/>
              </a:ext>
            </a:extLst>
          </p:cNvPr>
          <p:cNvSpPr/>
          <p:nvPr/>
        </p:nvSpPr>
        <p:spPr>
          <a:xfrm>
            <a:off x="6094412" y="4325730"/>
            <a:ext cx="1553594" cy="319841"/>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640AF4B-D1A9-4A28-9142-B68FD5F48CDB}"/>
              </a:ext>
            </a:extLst>
          </p:cNvPr>
          <p:cNvSpPr/>
          <p:nvPr/>
        </p:nvSpPr>
        <p:spPr>
          <a:xfrm>
            <a:off x="6676007" y="4694885"/>
            <a:ext cx="1553594" cy="2463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A28258E-39CE-4522-81F9-D5C880A09581}"/>
              </a:ext>
            </a:extLst>
          </p:cNvPr>
          <p:cNvSpPr/>
          <p:nvPr/>
        </p:nvSpPr>
        <p:spPr>
          <a:xfrm>
            <a:off x="10866268" y="6402106"/>
            <a:ext cx="1180730" cy="28165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E152814-1A73-4E11-B429-36EBEDF03F6E}"/>
              </a:ext>
            </a:extLst>
          </p:cNvPr>
          <p:cNvSpPr/>
          <p:nvPr/>
        </p:nvSpPr>
        <p:spPr>
          <a:xfrm>
            <a:off x="6676007" y="4990524"/>
            <a:ext cx="2192785" cy="336078"/>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F422E36-D5E1-4053-A22A-E7AEB27CC713}"/>
              </a:ext>
            </a:extLst>
          </p:cNvPr>
          <p:cNvSpPr/>
          <p:nvPr/>
        </p:nvSpPr>
        <p:spPr>
          <a:xfrm>
            <a:off x="8932414" y="5794054"/>
            <a:ext cx="1871710" cy="2463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7EF1ACA-42B1-45A9-A30A-B88BAFFC2A28}"/>
              </a:ext>
            </a:extLst>
          </p:cNvPr>
          <p:cNvSpPr/>
          <p:nvPr/>
        </p:nvSpPr>
        <p:spPr>
          <a:xfrm>
            <a:off x="9573086" y="6074226"/>
            <a:ext cx="1871710" cy="2463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710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24728-B8B4-4C33-BFF8-D167903256F0}"/>
              </a:ext>
            </a:extLst>
          </p:cNvPr>
          <p:cNvSpPr>
            <a:spLocks noGrp="1"/>
          </p:cNvSpPr>
          <p:nvPr>
            <p:ph type="title"/>
          </p:nvPr>
        </p:nvSpPr>
        <p:spPr/>
        <p:txBody>
          <a:bodyPr/>
          <a:lstStyle/>
          <a:p>
            <a:r>
              <a:rPr lang="en-US"/>
              <a:t>Risks and Mitigations</a:t>
            </a:r>
          </a:p>
        </p:txBody>
      </p:sp>
      <p:sp>
        <p:nvSpPr>
          <p:cNvPr id="3" name="Content Placeholder 2">
            <a:extLst>
              <a:ext uri="{FF2B5EF4-FFF2-40B4-BE49-F238E27FC236}">
                <a16:creationId xmlns:a16="http://schemas.microsoft.com/office/drawing/2014/main" id="{B1364FEA-1B6B-428D-A81C-E1EDD360AA0E}"/>
              </a:ext>
            </a:extLst>
          </p:cNvPr>
          <p:cNvSpPr>
            <a:spLocks noGrp="1"/>
          </p:cNvSpPr>
          <p:nvPr>
            <p:ph idx="1"/>
          </p:nvPr>
        </p:nvSpPr>
        <p:spPr/>
        <p:txBody>
          <a:bodyPr/>
          <a:lstStyle/>
          <a:p>
            <a:r>
              <a:rPr lang="en-US" sz="1800"/>
              <a:t>Risk 1: Budget and schedule are insufficient to complete construction of prototype system</a:t>
            </a:r>
          </a:p>
          <a:p>
            <a:r>
              <a:rPr lang="en-US" sz="1800"/>
              <a:t>Mitigation: Personal contributions and work outside of scheduled hours</a:t>
            </a:r>
          </a:p>
          <a:p>
            <a:pPr marL="0" indent="0">
              <a:buNone/>
            </a:pPr>
            <a:r>
              <a:rPr lang="en-US"/>
              <a:t>Unmitigated						       Mitigated</a:t>
            </a:r>
          </a:p>
        </p:txBody>
      </p:sp>
      <p:pic>
        <p:nvPicPr>
          <p:cNvPr id="5" name="Picture 4" descr="Chart, bar chart&#10;&#10;Description automatically generated">
            <a:extLst>
              <a:ext uri="{FF2B5EF4-FFF2-40B4-BE49-F238E27FC236}">
                <a16:creationId xmlns:a16="http://schemas.microsoft.com/office/drawing/2014/main" id="{E5EFD30F-C428-412F-92D5-49F3A7470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2021" y="3429000"/>
            <a:ext cx="2296669" cy="1931077"/>
          </a:xfrm>
          <a:prstGeom prst="rect">
            <a:avLst/>
          </a:prstGeom>
        </p:spPr>
      </p:pic>
      <p:pic>
        <p:nvPicPr>
          <p:cNvPr id="7" name="Picture 6" descr="Chart, bar chart&#10;&#10;Description automatically generated">
            <a:extLst>
              <a:ext uri="{FF2B5EF4-FFF2-40B4-BE49-F238E27FC236}">
                <a16:creationId xmlns:a16="http://schemas.microsoft.com/office/drawing/2014/main" id="{302BA0B1-4D90-4A7A-8B03-30BB8851D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352" y="3429000"/>
            <a:ext cx="2333625" cy="1962150"/>
          </a:xfrm>
          <a:prstGeom prst="rect">
            <a:avLst/>
          </a:prstGeom>
        </p:spPr>
      </p:pic>
      <p:sp>
        <p:nvSpPr>
          <p:cNvPr id="8" name="Multiplication Sign 7">
            <a:extLst>
              <a:ext uri="{FF2B5EF4-FFF2-40B4-BE49-F238E27FC236}">
                <a16:creationId xmlns:a16="http://schemas.microsoft.com/office/drawing/2014/main" id="{07A02B94-8D10-4914-9E25-2560EC309E5F}"/>
              </a:ext>
            </a:extLst>
          </p:cNvPr>
          <p:cNvSpPr/>
          <p:nvPr/>
        </p:nvSpPr>
        <p:spPr>
          <a:xfrm>
            <a:off x="3141994" y="4394538"/>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ication Sign 8">
            <a:extLst>
              <a:ext uri="{FF2B5EF4-FFF2-40B4-BE49-F238E27FC236}">
                <a16:creationId xmlns:a16="http://schemas.microsoft.com/office/drawing/2014/main" id="{BE8B15DC-17BC-4BFF-8EEC-11757FDC67D0}"/>
              </a:ext>
            </a:extLst>
          </p:cNvPr>
          <p:cNvSpPr/>
          <p:nvPr/>
        </p:nvSpPr>
        <p:spPr>
          <a:xfrm>
            <a:off x="9330064" y="4109148"/>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1550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24728-B8B4-4C33-BFF8-D167903256F0}"/>
              </a:ext>
            </a:extLst>
          </p:cNvPr>
          <p:cNvSpPr>
            <a:spLocks noGrp="1"/>
          </p:cNvSpPr>
          <p:nvPr>
            <p:ph type="title"/>
          </p:nvPr>
        </p:nvSpPr>
        <p:spPr/>
        <p:txBody>
          <a:bodyPr/>
          <a:lstStyle/>
          <a:p>
            <a:r>
              <a:rPr lang="en-US"/>
              <a:t>Risks and Mitigations Cont.</a:t>
            </a:r>
          </a:p>
        </p:txBody>
      </p:sp>
      <p:sp>
        <p:nvSpPr>
          <p:cNvPr id="3" name="Content Placeholder 2">
            <a:extLst>
              <a:ext uri="{FF2B5EF4-FFF2-40B4-BE49-F238E27FC236}">
                <a16:creationId xmlns:a16="http://schemas.microsoft.com/office/drawing/2014/main" id="{B1364FEA-1B6B-428D-A81C-E1EDD360AA0E}"/>
              </a:ext>
            </a:extLst>
          </p:cNvPr>
          <p:cNvSpPr>
            <a:spLocks noGrp="1"/>
          </p:cNvSpPr>
          <p:nvPr>
            <p:ph idx="1"/>
          </p:nvPr>
        </p:nvSpPr>
        <p:spPr/>
        <p:txBody>
          <a:bodyPr/>
          <a:lstStyle/>
          <a:p>
            <a:r>
              <a:rPr lang="en-US" sz="1800"/>
              <a:t>Risk 2: Standards are unable to be met or kept</a:t>
            </a:r>
          </a:p>
          <a:p>
            <a:r>
              <a:rPr lang="en-US" sz="1800"/>
              <a:t>Mitigation: Documentation will be provided or sections of design will be reworked</a:t>
            </a:r>
          </a:p>
          <a:p>
            <a:pPr marL="0" indent="0">
              <a:buNone/>
            </a:pPr>
            <a:r>
              <a:rPr lang="en-US"/>
              <a:t>Unmitigated						       Mitigated</a:t>
            </a:r>
          </a:p>
        </p:txBody>
      </p:sp>
      <p:pic>
        <p:nvPicPr>
          <p:cNvPr id="5" name="Picture 4" descr="Chart, bar chart&#10;&#10;Description automatically generated">
            <a:extLst>
              <a:ext uri="{FF2B5EF4-FFF2-40B4-BE49-F238E27FC236}">
                <a16:creationId xmlns:a16="http://schemas.microsoft.com/office/drawing/2014/main" id="{E5EFD30F-C428-412F-92D5-49F3A7470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2021" y="3429000"/>
            <a:ext cx="2296669" cy="1931077"/>
          </a:xfrm>
          <a:prstGeom prst="rect">
            <a:avLst/>
          </a:prstGeom>
        </p:spPr>
      </p:pic>
      <p:pic>
        <p:nvPicPr>
          <p:cNvPr id="7" name="Picture 6" descr="Chart, bar chart&#10;&#10;Description automatically generated">
            <a:extLst>
              <a:ext uri="{FF2B5EF4-FFF2-40B4-BE49-F238E27FC236}">
                <a16:creationId xmlns:a16="http://schemas.microsoft.com/office/drawing/2014/main" id="{302BA0B1-4D90-4A7A-8B03-30BB8851D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352" y="3429000"/>
            <a:ext cx="2333625" cy="1962150"/>
          </a:xfrm>
          <a:prstGeom prst="rect">
            <a:avLst/>
          </a:prstGeom>
        </p:spPr>
      </p:pic>
      <p:sp>
        <p:nvSpPr>
          <p:cNvPr id="8" name="Multiplication Sign 7">
            <a:extLst>
              <a:ext uri="{FF2B5EF4-FFF2-40B4-BE49-F238E27FC236}">
                <a16:creationId xmlns:a16="http://schemas.microsoft.com/office/drawing/2014/main" id="{07A02B94-8D10-4914-9E25-2560EC309E5F}"/>
              </a:ext>
            </a:extLst>
          </p:cNvPr>
          <p:cNvSpPr/>
          <p:nvPr/>
        </p:nvSpPr>
        <p:spPr>
          <a:xfrm>
            <a:off x="3477691" y="4093155"/>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ication Sign 8">
            <a:extLst>
              <a:ext uri="{FF2B5EF4-FFF2-40B4-BE49-F238E27FC236}">
                <a16:creationId xmlns:a16="http://schemas.microsoft.com/office/drawing/2014/main" id="{BE8B15DC-17BC-4BFF-8EEC-11757FDC67D0}"/>
              </a:ext>
            </a:extLst>
          </p:cNvPr>
          <p:cNvSpPr/>
          <p:nvPr/>
        </p:nvSpPr>
        <p:spPr>
          <a:xfrm>
            <a:off x="8957649" y="3531024"/>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73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24728-B8B4-4C33-BFF8-D167903256F0}"/>
              </a:ext>
            </a:extLst>
          </p:cNvPr>
          <p:cNvSpPr>
            <a:spLocks noGrp="1"/>
          </p:cNvSpPr>
          <p:nvPr>
            <p:ph type="title"/>
          </p:nvPr>
        </p:nvSpPr>
        <p:spPr/>
        <p:txBody>
          <a:bodyPr/>
          <a:lstStyle/>
          <a:p>
            <a:r>
              <a:rPr lang="en-US"/>
              <a:t>Risks and Mitigations Cont.</a:t>
            </a:r>
          </a:p>
        </p:txBody>
      </p:sp>
      <p:sp>
        <p:nvSpPr>
          <p:cNvPr id="3" name="Content Placeholder 2">
            <a:extLst>
              <a:ext uri="{FF2B5EF4-FFF2-40B4-BE49-F238E27FC236}">
                <a16:creationId xmlns:a16="http://schemas.microsoft.com/office/drawing/2014/main" id="{B1364FEA-1B6B-428D-A81C-E1EDD360AA0E}"/>
              </a:ext>
            </a:extLst>
          </p:cNvPr>
          <p:cNvSpPr>
            <a:spLocks noGrp="1"/>
          </p:cNvSpPr>
          <p:nvPr>
            <p:ph idx="1"/>
          </p:nvPr>
        </p:nvSpPr>
        <p:spPr/>
        <p:txBody>
          <a:bodyPr/>
          <a:lstStyle/>
          <a:p>
            <a:r>
              <a:rPr lang="en-US" sz="1800"/>
              <a:t>Risk 3: Insufficient knowledge is required for aspects of software development</a:t>
            </a:r>
          </a:p>
          <a:p>
            <a:r>
              <a:rPr lang="en-US" sz="1800"/>
              <a:t>Mitigation: Additional research will be done and new sources will be found</a:t>
            </a:r>
          </a:p>
          <a:p>
            <a:pPr marL="0" indent="0">
              <a:buNone/>
            </a:pPr>
            <a:r>
              <a:rPr lang="en-US"/>
              <a:t>Unmitigated						       Mitigated</a:t>
            </a:r>
          </a:p>
        </p:txBody>
      </p:sp>
      <p:pic>
        <p:nvPicPr>
          <p:cNvPr id="5" name="Picture 4" descr="Chart, bar chart&#10;&#10;Description automatically generated">
            <a:extLst>
              <a:ext uri="{FF2B5EF4-FFF2-40B4-BE49-F238E27FC236}">
                <a16:creationId xmlns:a16="http://schemas.microsoft.com/office/drawing/2014/main" id="{E5EFD30F-C428-412F-92D5-49F3A7470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2021" y="3429000"/>
            <a:ext cx="2296669" cy="1931077"/>
          </a:xfrm>
          <a:prstGeom prst="rect">
            <a:avLst/>
          </a:prstGeom>
        </p:spPr>
      </p:pic>
      <p:pic>
        <p:nvPicPr>
          <p:cNvPr id="7" name="Picture 6" descr="Chart, bar chart&#10;&#10;Description automatically generated">
            <a:extLst>
              <a:ext uri="{FF2B5EF4-FFF2-40B4-BE49-F238E27FC236}">
                <a16:creationId xmlns:a16="http://schemas.microsoft.com/office/drawing/2014/main" id="{302BA0B1-4D90-4A7A-8B03-30BB8851D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79352" y="3429000"/>
            <a:ext cx="2333625" cy="1962150"/>
          </a:xfrm>
          <a:prstGeom prst="rect">
            <a:avLst/>
          </a:prstGeom>
        </p:spPr>
      </p:pic>
      <p:sp>
        <p:nvSpPr>
          <p:cNvPr id="8" name="Multiplication Sign 7">
            <a:extLst>
              <a:ext uri="{FF2B5EF4-FFF2-40B4-BE49-F238E27FC236}">
                <a16:creationId xmlns:a16="http://schemas.microsoft.com/office/drawing/2014/main" id="{07A02B94-8D10-4914-9E25-2560EC309E5F}"/>
              </a:ext>
            </a:extLst>
          </p:cNvPr>
          <p:cNvSpPr/>
          <p:nvPr/>
        </p:nvSpPr>
        <p:spPr>
          <a:xfrm>
            <a:off x="3106502" y="3781291"/>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Multiplication Sign 8">
            <a:extLst>
              <a:ext uri="{FF2B5EF4-FFF2-40B4-BE49-F238E27FC236}">
                <a16:creationId xmlns:a16="http://schemas.microsoft.com/office/drawing/2014/main" id="{BE8B15DC-17BC-4BFF-8EEC-11757FDC67D0}"/>
              </a:ext>
            </a:extLst>
          </p:cNvPr>
          <p:cNvSpPr/>
          <p:nvPr/>
        </p:nvSpPr>
        <p:spPr>
          <a:xfrm>
            <a:off x="8931715" y="3782071"/>
            <a:ext cx="266330" cy="28408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5816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22946-D54E-4F86-9F2A-460D03B4DE98}"/>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B540AF8F-AB4E-4D8F-8CA5-C064AA08F636}"/>
              </a:ext>
            </a:extLst>
          </p:cNvPr>
          <p:cNvSpPr>
            <a:spLocks noGrp="1"/>
          </p:cNvSpPr>
          <p:nvPr>
            <p:ph idx="1"/>
          </p:nvPr>
        </p:nvSpPr>
        <p:spPr/>
        <p:txBody>
          <a:bodyPr vert="horz" lIns="91440" tIns="45720" rIns="91440" bIns="45720" rtlCol="0" anchor="t">
            <a:normAutofit/>
          </a:bodyPr>
          <a:lstStyle/>
          <a:p>
            <a:pPr marL="223520" indent="-223520"/>
            <a:r>
              <a:rPr lang="en-US" u="sng">
                <a:ea typeface="+mn-lt"/>
                <a:cs typeface="+mn-lt"/>
                <a:hlinkClick r:id="rId2"/>
              </a:rPr>
              <a:t>https://www.instructables.com/Simple-and-intuitive-web-interface-for-your-Raspbe/</a:t>
            </a:r>
            <a:endParaRPr lang="en-US">
              <a:ea typeface="+mn-lt"/>
              <a:cs typeface="+mn-lt"/>
            </a:endParaRPr>
          </a:p>
          <a:p>
            <a:pPr marL="223520" indent="-223520"/>
            <a:r>
              <a:rPr lang="en-US" u="sng">
                <a:ea typeface="+mn-lt"/>
                <a:cs typeface="+mn-lt"/>
                <a:hlinkClick r:id="rId3"/>
              </a:rPr>
              <a:t>https://www.bbc.com/future/bespoke/follow-the-food/why-our-food-needs-to-use-less-water/?utm_source=pocket-newtab</a:t>
            </a:r>
            <a:r>
              <a:rPr lang="en-US" u="sng">
                <a:ea typeface="+mn-lt"/>
                <a:cs typeface="+mn-lt"/>
                <a:hlinkClick r:id="rId4"/>
              </a:rPr>
              <a:t>https://www.health.harvard.edu/blog/backyard-gardening-grow-your-own-food-improve-your-health-201206294984</a:t>
            </a:r>
            <a:endParaRPr lang="en-US">
              <a:ea typeface="+mn-lt"/>
              <a:cs typeface="+mn-lt"/>
            </a:endParaRPr>
          </a:p>
          <a:p>
            <a:pPr marL="223520" indent="-223520"/>
            <a:r>
              <a:rPr lang="en-US" u="sng">
                <a:ea typeface="+mn-lt"/>
                <a:cs typeface="+mn-lt"/>
                <a:hlinkClick r:id="rId5"/>
              </a:rPr>
              <a:t>http://www.fao.org/in-action/globefish/market-reports/resource-detail/en/c/1263851/</a:t>
            </a:r>
            <a:endParaRPr lang="en-US" u="sng">
              <a:ea typeface="+mn-lt"/>
              <a:cs typeface="+mn-lt"/>
            </a:endParaRPr>
          </a:p>
          <a:p>
            <a:pPr marL="223520" indent="-223520"/>
            <a:r>
              <a:rPr lang="en-US" u="sng">
                <a:ea typeface="+mn-lt"/>
                <a:cs typeface="+mn-lt"/>
                <a:hlinkClick r:id="rId6"/>
              </a:rPr>
              <a:t>https://images-na.ssl-images-amazon.com/images/I/81StZVxm8JL._AC_SL1500_.jpg</a:t>
            </a:r>
            <a:endParaRPr lang="en-US" u="sng">
              <a:ea typeface="+mn-lt"/>
              <a:cs typeface="+mn-lt"/>
            </a:endParaRPr>
          </a:p>
        </p:txBody>
      </p:sp>
    </p:spTree>
    <p:extLst>
      <p:ext uri="{BB962C8B-B14F-4D97-AF65-F5344CB8AC3E}">
        <p14:creationId xmlns:p14="http://schemas.microsoft.com/office/powerpoint/2010/main" val="309871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6BC8E-5A21-4B2F-A3D3-0609AF0409F1}"/>
              </a:ext>
            </a:extLst>
          </p:cNvPr>
          <p:cNvSpPr>
            <a:spLocks noGrp="1"/>
          </p:cNvSpPr>
          <p:nvPr>
            <p:ph type="title"/>
          </p:nvPr>
        </p:nvSpPr>
        <p:spPr/>
        <p:txBody>
          <a:bodyPr/>
          <a:lstStyle/>
          <a:p>
            <a:r>
              <a:rPr lang="en-US"/>
              <a:t>Contacts</a:t>
            </a:r>
          </a:p>
        </p:txBody>
      </p:sp>
      <p:sp>
        <p:nvSpPr>
          <p:cNvPr id="3" name="Content Placeholder 2">
            <a:extLst>
              <a:ext uri="{FF2B5EF4-FFF2-40B4-BE49-F238E27FC236}">
                <a16:creationId xmlns:a16="http://schemas.microsoft.com/office/drawing/2014/main" id="{50DFDDA4-1205-4623-98A0-1C51BF439CF5}"/>
              </a:ext>
            </a:extLst>
          </p:cNvPr>
          <p:cNvSpPr>
            <a:spLocks noGrp="1"/>
          </p:cNvSpPr>
          <p:nvPr>
            <p:ph sz="half" idx="1"/>
          </p:nvPr>
        </p:nvSpPr>
        <p:spPr/>
        <p:txBody>
          <a:bodyPr/>
          <a:lstStyle/>
          <a:p>
            <a:pPr marL="0" indent="0">
              <a:buNone/>
            </a:pPr>
            <a:r>
              <a:rPr lang="en-US"/>
              <a:t>Chalmer </a:t>
            </a:r>
            <a:r>
              <a:rPr lang="en-US" err="1"/>
              <a:t>Frueauf</a:t>
            </a:r>
            <a:endParaRPr lang="en-US"/>
          </a:p>
          <a:p>
            <a:pPr marL="0" indent="0">
              <a:buNone/>
            </a:pPr>
            <a:r>
              <a:rPr lang="en-US"/>
              <a:t>Alex Gentry</a:t>
            </a:r>
          </a:p>
          <a:p>
            <a:pPr marL="0" indent="0">
              <a:buNone/>
            </a:pPr>
            <a:r>
              <a:rPr lang="en-US"/>
              <a:t>Derrick </a:t>
            </a:r>
            <a:r>
              <a:rPr lang="en-US" err="1"/>
              <a:t>Kaliney</a:t>
            </a:r>
            <a:endParaRPr lang="en-US"/>
          </a:p>
          <a:p>
            <a:pPr marL="0" indent="0">
              <a:buNone/>
            </a:pPr>
            <a:r>
              <a:rPr lang="en-US"/>
              <a:t>Charles Witherspoon</a:t>
            </a:r>
          </a:p>
        </p:txBody>
      </p:sp>
      <p:sp>
        <p:nvSpPr>
          <p:cNvPr id="4" name="Content Placeholder 3">
            <a:extLst>
              <a:ext uri="{FF2B5EF4-FFF2-40B4-BE49-F238E27FC236}">
                <a16:creationId xmlns:a16="http://schemas.microsoft.com/office/drawing/2014/main" id="{AD732B1F-5E3E-4F20-A0A5-12FF097D0A38}"/>
              </a:ext>
            </a:extLst>
          </p:cNvPr>
          <p:cNvSpPr>
            <a:spLocks noGrp="1"/>
          </p:cNvSpPr>
          <p:nvPr>
            <p:ph sz="half" idx="2"/>
          </p:nvPr>
        </p:nvSpPr>
        <p:spPr/>
        <p:txBody>
          <a:bodyPr/>
          <a:lstStyle/>
          <a:p>
            <a:pPr marL="0" indent="0">
              <a:buNone/>
            </a:pPr>
            <a:r>
              <a:rPr lang="en-US">
                <a:hlinkClick r:id="rId2"/>
              </a:rPr>
              <a:t>frueauf.6@wright.edu</a:t>
            </a:r>
            <a:endParaRPr lang="en-US"/>
          </a:p>
          <a:p>
            <a:pPr marL="0" indent="0">
              <a:buNone/>
            </a:pPr>
            <a:r>
              <a:rPr lang="en-US">
                <a:hlinkClick r:id="rId3"/>
              </a:rPr>
              <a:t>gentry.24@wright.edu</a:t>
            </a:r>
            <a:endParaRPr lang="en-US"/>
          </a:p>
          <a:p>
            <a:pPr marL="0" indent="0">
              <a:buNone/>
            </a:pPr>
            <a:r>
              <a:rPr lang="en-US">
                <a:hlinkClick r:id="rId4"/>
              </a:rPr>
              <a:t>kaliney.2@wright.edu</a:t>
            </a:r>
            <a:endParaRPr lang="en-US"/>
          </a:p>
          <a:p>
            <a:pPr marL="0" indent="0">
              <a:buNone/>
            </a:pPr>
            <a:r>
              <a:rPr lang="en-US" err="1"/>
              <a:t>witherspoon</a:t>
            </a:r>
            <a:r>
              <a:rPr lang="en-US"/>
              <a:t>.7@wright.edu</a:t>
            </a:r>
          </a:p>
        </p:txBody>
      </p:sp>
    </p:spTree>
    <p:extLst>
      <p:ext uri="{BB962C8B-B14F-4D97-AF65-F5344CB8AC3E}">
        <p14:creationId xmlns:p14="http://schemas.microsoft.com/office/powerpoint/2010/main" val="424654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Application>Microsoft Office PowerPoint</Application>
  <PresentationFormat>Custom</PresentationFormat>
  <Slides>30</Slides>
  <Notes>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Digital Blue Tunnel 16x9</vt:lpstr>
      <vt:lpstr>Automated Aquaponic Garden PLC Using a Web-based Interface</vt:lpstr>
      <vt:lpstr>Overview</vt:lpstr>
      <vt:lpstr>Device Purpose</vt:lpstr>
      <vt:lpstr>Design Scope</vt:lpstr>
      <vt:lpstr>Market Analysis</vt:lpstr>
      <vt:lpstr>Design Objectives</vt:lpstr>
      <vt:lpstr>Design Objectives Cont. </vt:lpstr>
      <vt:lpstr>Design Assumptions The product will:</vt:lpstr>
      <vt:lpstr>Design Requirements Device:    Prototype:</vt:lpstr>
      <vt:lpstr>Design Requirements Cont. Webpage:</vt:lpstr>
      <vt:lpstr>Design Constraints</vt:lpstr>
      <vt:lpstr>Design Standards</vt:lpstr>
      <vt:lpstr>Design Functionality</vt:lpstr>
      <vt:lpstr>Design Functionality Cont. </vt:lpstr>
      <vt:lpstr>Design Impact</vt:lpstr>
      <vt:lpstr>Design Impact Cont. </vt:lpstr>
      <vt:lpstr>Design Impact Cont.</vt:lpstr>
      <vt:lpstr>User Documentation</vt:lpstr>
      <vt:lpstr>Technical Approach</vt:lpstr>
      <vt:lpstr>Hardware</vt:lpstr>
      <vt:lpstr>Itemized List</vt:lpstr>
      <vt:lpstr>Software</vt:lpstr>
      <vt:lpstr>Tests and Evaluation</vt:lpstr>
      <vt:lpstr>Critical Milestones</vt:lpstr>
      <vt:lpstr>PowerPoint Presentation</vt:lpstr>
      <vt:lpstr>Risks and Mitigations</vt:lpstr>
      <vt:lpstr>Risks and Mitigations Cont.</vt:lpstr>
      <vt:lpstr>Risks and Mitigations Cont.</vt:lpstr>
      <vt:lpstr>References</vt:lpstr>
      <vt:lpstr>Contacts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Gentry, Alexander John</dc:creator>
  <cp:revision>2</cp:revision>
  <dcterms:created xsi:type="dcterms:W3CDTF">2021-04-28T18:21:02Z</dcterms:created>
  <dcterms:modified xsi:type="dcterms:W3CDTF">2021-04-29T16:36:15Z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